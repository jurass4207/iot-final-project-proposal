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18ac0ffd95411e" /><Relationship Type="http://schemas.openxmlformats.org/officeDocument/2006/relationships/extended-properties" Target="/docProps/app.xml" Id="Rc64152d89c6c4ad4" /><Relationship Type="http://schemas.openxmlformats.org/officeDocument/2006/relationships/officeDocument" Target="/ppt/presentation.xml" Id="Rbe38d80cd42c4f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c6fa888a174749"/>
  </p:sldMasterIdLst>
  <p:notesMasterIdLst>
    <p:notesMasterId xmlns:r="http://schemas.openxmlformats.org/officeDocument/2006/relationships" r:id="Rf5c8a098696646db"/>
  </p:notesMasterIdLst>
  <p:sldIdLst>
    <p:sldId xmlns:r="http://schemas.openxmlformats.org/officeDocument/2006/relationships" id="256" r:id="Re270600fe7d143c7"/>
    <p:sldId xmlns:r="http://schemas.openxmlformats.org/officeDocument/2006/relationships" id="257" r:id="Rab752217e36f4431"/>
    <p:sldId xmlns:r="http://schemas.openxmlformats.org/officeDocument/2006/relationships" id="258" r:id="R2cc7cd4c243b453d"/>
    <p:sldId xmlns:r="http://schemas.openxmlformats.org/officeDocument/2006/relationships" id="259" r:id="R2db3c926d73b46ab"/>
    <p:sldId xmlns:r="http://schemas.openxmlformats.org/officeDocument/2006/relationships" id="260" r:id="Rb2126616b53641d9"/>
    <p:sldId xmlns:r="http://schemas.openxmlformats.org/officeDocument/2006/relationships" id="261" r:id="Rdb4c8e984bc24a58"/>
    <p:sldId xmlns:r="http://schemas.openxmlformats.org/officeDocument/2006/relationships" id="262" r:id="Ra06953039ef840a5"/>
    <p:sldId xmlns:r="http://schemas.openxmlformats.org/officeDocument/2006/relationships" id="263" r:id="Rf8b634d40ed94880"/>
    <p:sldId xmlns:r="http://schemas.openxmlformats.org/officeDocument/2006/relationships" id="264" r:id="R45ccb59128984c9b"/>
    <p:sldId xmlns:r="http://schemas.openxmlformats.org/officeDocument/2006/relationships" id="265" r:id="R3ceec7235d7d4fc1"/>
    <p:sldId xmlns:r="http://schemas.openxmlformats.org/officeDocument/2006/relationships" id="266" r:id="Rc33c3ac90d3a4bf0"/>
    <p:sldId xmlns:r="http://schemas.openxmlformats.org/officeDocument/2006/relationships" id="267" r:id="R4f6cc0831c6e4d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8df7e90f3a42b8" /><Relationship Type="http://schemas.openxmlformats.org/officeDocument/2006/relationships/slideMaster" Target="/ppt/slideMasters/slideMaster1.xml" Id="Re8c6fa888a174749" /><Relationship Type="http://schemas.openxmlformats.org/officeDocument/2006/relationships/notesMaster" Target="/ppt/notesMasters/notesMaster1.xml" Id="Rf5c8a098696646db" /><Relationship Type="http://schemas.openxmlformats.org/officeDocument/2006/relationships/presProps" Target="/ppt/presProps.xml" Id="R6fcbebc97efa4eb4" /><Relationship Type="http://schemas.openxmlformats.org/officeDocument/2006/relationships/tableStyles" Target="/ppt/tableStyles.xml" Id="R86ff9ed068004789" /><Relationship Type="http://schemas.openxmlformats.org/officeDocument/2006/relationships/slide" Target="/ppt/slides/slide1.xml" Id="Re270600fe7d143c7" /><Relationship Type="http://schemas.openxmlformats.org/officeDocument/2006/relationships/slide" Target="/ppt/slides/slide2.xml" Id="Rab752217e36f4431" /><Relationship Type="http://schemas.openxmlformats.org/officeDocument/2006/relationships/slide" Target="/ppt/slides/slide3.xml" Id="R2cc7cd4c243b453d" /><Relationship Type="http://schemas.openxmlformats.org/officeDocument/2006/relationships/slide" Target="/ppt/slides/slide4.xml" Id="R2db3c926d73b46ab" /><Relationship Type="http://schemas.openxmlformats.org/officeDocument/2006/relationships/slide" Target="/ppt/slides/slide5.xml" Id="Rb2126616b53641d9" /><Relationship Type="http://schemas.openxmlformats.org/officeDocument/2006/relationships/slide" Target="/ppt/slides/slide6.xml" Id="Rdb4c8e984bc24a58" /><Relationship Type="http://schemas.openxmlformats.org/officeDocument/2006/relationships/slide" Target="/ppt/slides/slide7.xml" Id="Ra06953039ef840a5" /><Relationship Type="http://schemas.openxmlformats.org/officeDocument/2006/relationships/slide" Target="/ppt/slides/slide8.xml" Id="Rf8b634d40ed94880" /><Relationship Type="http://schemas.openxmlformats.org/officeDocument/2006/relationships/slide" Target="/ppt/slides/slide9.xml" Id="R45ccb59128984c9b" /><Relationship Type="http://schemas.openxmlformats.org/officeDocument/2006/relationships/slide" Target="/ppt/slides/slide10.xml" Id="R3ceec7235d7d4fc1" /><Relationship Type="http://schemas.openxmlformats.org/officeDocument/2006/relationships/slide" Target="/ppt/slides/slide11.xml" Id="Rc33c3ac90d3a4bf0" /><Relationship Type="http://schemas.openxmlformats.org/officeDocument/2006/relationships/slide" Target="/ppt/slides/slide12.xml" Id="R4f6cc0831c6e4d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195c76724947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46f340e2e46d8" /><Relationship Type="http://schemas.openxmlformats.org/officeDocument/2006/relationships/notesMaster" Target="/ppt/notesMasters/notesMaster1.xml" Id="R31ed2cfc553c4e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cff78c55114d28" /><Relationship Type="http://schemas.openxmlformats.org/officeDocument/2006/relationships/notesMaster" Target="/ppt/notesMasters/notesMaster1.xml" Id="Rfed7b58182bd4a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770eb07bdf4276" /><Relationship Type="http://schemas.openxmlformats.org/officeDocument/2006/relationships/notesMaster" Target="/ppt/notesMasters/notesMaster1.xml" Id="Rec9dde54e15b4b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74343476c64d6b" /><Relationship Type="http://schemas.openxmlformats.org/officeDocument/2006/relationships/notesMaster" Target="/ppt/notesMasters/notesMaster1.xml" Id="R6632eaab4f044c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b6d78fbce34e9e" /><Relationship Type="http://schemas.openxmlformats.org/officeDocument/2006/relationships/notesMaster" Target="/ppt/notesMasters/notesMaster1.xml" Id="R3212e2135c5045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47e17c59ed4000" /><Relationship Type="http://schemas.openxmlformats.org/officeDocument/2006/relationships/notesMaster" Target="/ppt/notesMasters/notesMaster1.xml" Id="Rfb402997de9247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63d40f2cc24453" /><Relationship Type="http://schemas.openxmlformats.org/officeDocument/2006/relationships/notesMaster" Target="/ppt/notesMasters/notesMaster1.xml" Id="R08df0cd4939648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2af54cd51d4bcc" /><Relationship Type="http://schemas.openxmlformats.org/officeDocument/2006/relationships/notesMaster" Target="/ppt/notesMasters/notesMaster1.xml" Id="R28f1a25f8c304a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6e1485b6dc4ff4" /><Relationship Type="http://schemas.openxmlformats.org/officeDocument/2006/relationships/notesMaster" Target="/ppt/notesMasters/notesMaster1.xml" Id="R674749fbd8b045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90b999063b4984" /><Relationship Type="http://schemas.openxmlformats.org/officeDocument/2006/relationships/notesMaster" Target="/ppt/notesMasters/notesMaster1.xml" Id="Ra6e8ba10ccc54e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3d7850766844e3" /><Relationship Type="http://schemas.openxmlformats.org/officeDocument/2006/relationships/notesMaster" Target="/ppt/notesMasters/notesMaster1.xml" Id="R07a0d8fcfdf145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e70d5d6bbe4b1c" /><Relationship Type="http://schemas.openxmlformats.org/officeDocument/2006/relationships/notesMaster" Target="/ppt/notesMasters/notesMaster1.xml" Id="Rbe79748d72f84a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專題名稱與研究方向為暫定版本。資料來源：環境部 AQX_P_432，https://data.moenv.gov.tw/dataset/detail/aqx_p_432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官方資料集每小時更新，欄位包含 AQI、污染物濃度、風速風向、座標與發布時間。來源：https://data.moenv.gov.tw/dataset/detail/aqx_p_432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研究問題與限制是本提案的操作定義，將透過文獻回顧與資料盤點驗證。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來源：MOENV AQX_P_488 https://data.moenv.gov.tw/dataset/detail/aqx_p_488；即時資料 AQX_P_432 https://data.moenv.gov.tw/dataset/detail/aqx_p_432；MOENV air-pollution sensing IoT https://env.moenv.gov.tw/en/Issue/Index/53b6ae55-bb69-449e-953e-01c2330ca3b8。API key、歷史資料保存和查詢限制仍需實測。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初步文獻：Fang et al. (2025), https://doi.org/10.1016/j.scitotenv.2025.180106；“Calibration and validation-based assessment of low-cost air quality sensors” (2025), https://doi.org/10.1016/j.scitotenv.2025.179364；“Exploration of a practical approach to providing RH corrections to low cost sensor networks” (2025), https://doi.org/10.1038/s41612-025-01115-8。需進一步核對完整書目及研究情境。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Gap is a hypothesis, not a verified claim. Confirm after systematic review of air-quality dashboards, retrieval-grounded agents, and sensor data quality studies.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流程為提案設計。風險與健康用語會依權威領域資料進一步校對。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資料來源與欄位見研究文件及 DESIGN.md。SensorThings API 資料對應須先完成驗證。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 is the intended MVP interaction. The agent may ask a follow-up if location/time cannot be resolved; it should never conceal missing or stale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Pseudocode is intentionally model-agnostic; final algorithm and baseline will depend on historical data coverage and team capacity.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metrics are candidates. Event labels need an explicit rubric; forecast metrics are included only if forecasting remains in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are preliminary. Confirm full bibliographic metadata and relevance before submitting the final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db3bd0d534c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3e541cb0843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21282779b4b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d92da894548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c25052f3c49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ce3f13cb645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F40963-7B46-43B5-A7B7-B757D6D08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D7E778-A538-4C4B-865C-ABE8572102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2C7BF5-7CFF-45A2-9934-D0EDEA6E5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E5A695-A4FF-4540-9A72-37E27A41BB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EF0F39-9140-4AC4-B032-EDE39EC61F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F837FA-B074-44EA-9210-6554F493E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9DA1F2-900B-477B-B314-5DD3F59C0A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E68647-37AE-4DDA-A80F-256BCA9316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F8A2B9-EE2A-4669-988E-F3B1C6C3C5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605882-08DC-472D-8326-7C3BF55E51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ccd993d82047bb" /><Relationship Type="http://schemas.openxmlformats.org/officeDocument/2006/relationships/slideLayout" Target="/ppt/slideLayouts/slideLayout1.xml" Id="R6aeb617eadc34a3c" /><Relationship Type="http://schemas.openxmlformats.org/officeDocument/2006/relationships/slideLayout" Target="/ppt/slideLayouts/slideLayout2.xml" Id="R606fd7cbe3b449cd" /><Relationship Type="http://schemas.openxmlformats.org/officeDocument/2006/relationships/slideLayout" Target="/ppt/slideLayouts/slideLayout3.xml" Id="R65a38cb507e6402c" /><Relationship Type="http://schemas.openxmlformats.org/officeDocument/2006/relationships/slideLayout" Target="/ppt/slideLayouts/slideLayout4.xml" Id="R983a77e2a5dc4cd5" /><Relationship Type="http://schemas.openxmlformats.org/officeDocument/2006/relationships/slideLayout" Target="/ppt/slideLayouts/slideLayout5.xml" Id="R89c4365b87464c37" /><Relationship Type="http://schemas.openxmlformats.org/officeDocument/2006/relationships/slideLayout" Target="/ppt/slideLayouts/slideLayout6.xml" Id="R97c21c75643449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eb617eadc34a3c"/>
    <p:sldLayoutId xmlns:r="http://schemas.openxmlformats.org/officeDocument/2006/relationships" id="2147483650" r:id="R606fd7cbe3b449cd"/>
    <p:sldLayoutId xmlns:r="http://schemas.openxmlformats.org/officeDocument/2006/relationships" id="2147483651" r:id="R65a38cb507e6402c"/>
    <p:sldLayoutId xmlns:r="http://schemas.openxmlformats.org/officeDocument/2006/relationships" id="2147483652" r:id="R983a77e2a5dc4cd5"/>
    <p:sldLayoutId xmlns:r="http://schemas.openxmlformats.org/officeDocument/2006/relationships" id="2147483653" r:id="R89c4365b87464c37"/>
    <p:sldLayoutId xmlns:r="http://schemas.openxmlformats.org/officeDocument/2006/relationships" id="2147483654" r:id="R97c21c75643449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7e16cc8f94404" /><Relationship Type="http://schemas.openxmlformats.org/officeDocument/2006/relationships/notesSlide" Target="/ppt/notesSlides/notesSlide1.xml" Id="R41f28d5f386047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adcd54cf74f12" /><Relationship Type="http://schemas.openxmlformats.org/officeDocument/2006/relationships/notesSlide" Target="/ppt/notesSlides/notesSlide2.xml" Id="R5a75a0d25b7547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fff3694e444c1" /><Relationship Type="http://schemas.openxmlformats.org/officeDocument/2006/relationships/notesSlide" Target="/ppt/notesSlides/notesSlide3.xml" Id="R0096b8b26ec847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002b4a5e04e1f" /><Relationship Type="http://schemas.openxmlformats.org/officeDocument/2006/relationships/notesSlide" Target="/ppt/notesSlides/notesSlide4.xml" Id="R50766270014a44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2432915f14a69" /><Relationship Type="http://schemas.openxmlformats.org/officeDocument/2006/relationships/notesSlide" Target="/ppt/notesSlides/notesSlide5.xml" Id="Rc90d10746def4c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1efb4aefc40f5" /><Relationship Type="http://schemas.openxmlformats.org/officeDocument/2006/relationships/notesSlide" Target="/ppt/notesSlides/notesSlide6.xml" Id="R2c1fdb807a2e44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467c3a5a84cc8" /><Relationship Type="http://schemas.openxmlformats.org/officeDocument/2006/relationships/notesSlide" Target="/ppt/notesSlides/notesSlide7.xml" Id="R3d169c7bd1b348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2ef382218f4876" /><Relationship Type="http://schemas.openxmlformats.org/officeDocument/2006/relationships/notesSlide" Target="/ppt/notesSlides/notesSlide8.xml" Id="R4bea3706c83343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8083e96e1b4b48" /><Relationship Type="http://schemas.openxmlformats.org/officeDocument/2006/relationships/notesSlide" Target="/ppt/notesSlides/notesSlide9.xml" Id="R4f685f212bdc42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b3747600204683" /><Relationship Type="http://schemas.openxmlformats.org/officeDocument/2006/relationships/notesSlide" Target="/ppt/notesSlides/notesSlide10.xml" Id="Rc55eff4d4c214d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bbbf378b745d1" /><Relationship Type="http://schemas.openxmlformats.org/officeDocument/2006/relationships/notesSlide" Target="/ppt/notesSlides/notesSlide11.xml" Id="R2285c3ac47dc4d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0acbe52844f98" /><Relationship Type="http://schemas.openxmlformats.org/officeDocument/2006/relationships/notesSlide" Target="/ppt/notesSlides/notesSlide12.xml" Id="Rde0afb1203044d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E1C33-EEDD-4BD1-AC57-5BE0BAFB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572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5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28E0E-9378-4EA7-98CC-E17DAD9C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F30F6-2773-4B8C-8A9E-0A8503D6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7FFB3-A5AD-4831-8415-322A6605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43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rPr>
              <a:t>期末專題提案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EC771-AC4A-4279-97F4-4A3DD771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7381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台灣空氣品質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0601C-6B6E-4AC0-B641-1D192615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BFE2D8"/>
                </a:solidFill>
                <a:latin typeface="Microsoft JhengHei"/>
                <a:ea typeface="Microsoft JhengHei"/>
                <a:cs typeface="Microsoft JhengHei"/>
              </a:rPr>
              <a:t>Taiwan Air Quality Evidence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507CA-32F7-4FE8-B3B4-D07164F2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以逐時監測資料解讀污染事件、趨勢與站點差異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332E4-D0A2-4352-BC58-03FBA1AE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B8C9C7"/>
                </a:solidFill>
                <a:latin typeface="Microsoft JhengHei"/>
                <a:ea typeface="Microsoft JhengHei"/>
                <a:cs typeface="Microsoft JhengHei"/>
              </a:rPr>
              <a:t>Proposal draft  ·  2026</a:t>
            </a:r>
          </a:p>
        </p:txBody>
      </p:sp>
    </p:spTree>
    <p:extLst>
      <p:ext uri="{BB962C8B-B14F-4D97-AF65-F5344CB8AC3E}">
        <p14:creationId xmlns:p14="http://schemas.microsoft.com/office/powerpoint/2010/main" val="561667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4D2F4A-0260-4ECB-907E-7B0A400F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1E196-CF05-42A5-8897-FC5A3071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研究動機｜資料很多，解讀仍需要脈絡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07534-4E7A-478C-8515-2C62CE0D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從可查詢的監測值，走向可追溯的事件解讀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4DC0E-6DD2-407B-AF84-E930690C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701F2-0BBE-4485-8252-991DC660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E9A17-23B1-497D-9CE2-1392E157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60984-10FB-47BD-9536-9B640EFD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逐時官方資料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A106F-2283-4F28-8DB2-9F4CBB6B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AQI、污染物、風場、座標、發布時間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7CEA2-E83B-46F2-9A59-69CA1D00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2437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4C40F-6A88-495B-9C91-707374CE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使用者真正想知道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2A1AC-3B1B-4589-A01A-07734E68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CC00E-1199-45FB-9B08-D06008CD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哪個污染物帶動指標變化？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87A06-CF95-477A-BB90-6295C362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9035C-7104-40CA-8A7B-C62647C9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附近測站是否也出現相同變化？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D2C2D-B8B9-448A-8691-0B74BA4D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14366-A7EC-42A7-890A-1A6547F7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4733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資料有多新、能支持什麼結論？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3E72E-E76E-4A74-AFCD-D3139832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C08EC-3C3C-4C89-B6C5-B36E8A70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監測數值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82631-3AC7-426A-B765-E852A14E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AQI  ·  PM₂.₅  ·  風向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7EE31-E4D4-4E1A-B945-FB37C367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861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4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4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4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4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4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4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4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4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4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412CC-4F47-42DC-8B0C-EC0C52AB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6712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帶來源與時間的解釋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8A918-FD66-439F-BB32-6731B782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197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把資料、領域規則與不確定性放在同一個回答裡</a:t>
            </a:r>
          </a:p>
        </p:txBody>
      </p:sp>
    </p:spTree>
    <p:extLst>
      <p:ext uri="{BB962C8B-B14F-4D97-AF65-F5344CB8AC3E}">
        <p14:creationId xmlns:p14="http://schemas.microsoft.com/office/powerpoint/2010/main" val="1222463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DB909-6D6F-4DC9-877F-D1DD9A6A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64FF8-A6B1-4E9B-BAB5-D0A4875E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問題定義｜讓空品回答可核對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56A68-8298-485D-BAEA-60BDEEF8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聚焦地點、時間、污染物與證據來源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2B838-3406-425B-A9E0-09BA5B77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C82FA-3DF7-4B52-8A03-AF3397FB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56F23-6FF3-4E44-BF58-C7BFE68C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E525D-8F7D-43A5-A733-EC58F062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研究問題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45E8E-5A6E-46AE-954C-16D56EF6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給定一個地點與時間範圍，系統如何把公開監測值轉成可理解、可追溯的說明？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E08F4-44C8-4E1D-BCF6-1C088B24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6F8FC-F946-43DB-A7A0-4F97544C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17212-3083-4E03-88F8-F2BA2719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觀測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E0883-C4E6-4475-A3BC-EE045EE7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AQI 可能概括了多種污染物；單一數值未必說明變化原因。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A7653-2BDE-412A-93DE-A0D0F847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10C6B-76AF-4908-B224-EEB97C00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E9F98-FEBF-4C43-8317-8B8CB5D1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比較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B665C-CF3B-437C-AFF6-FB3A67C7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測站資料有時間差、缺漏與地理差異，需要對齊後才適合比較。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E5E46-AA50-4B3D-82D1-FA1F22F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90925"/>
            <a:ext cx="3238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993E8-63AC-4238-AC7C-56F91710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90925"/>
            <a:ext cx="666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9609B-5F1B-41AC-A314-FA79E70E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33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表達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C7552-38F3-420C-80F4-CB165684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338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回答必須區分觀測事實、分析推論與資料不足之處。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33DE7-B1C9-4AC7-8B60-55A9A6D8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目標使用者：需要快速理解台灣特定地區空品變化的一般使用者與課堂評估者</a:t>
            </a:r>
          </a:p>
        </p:txBody>
      </p:sp>
    </p:spTree>
    <p:extLst>
      <p:ext uri="{BB962C8B-B14F-4D97-AF65-F5344CB8AC3E}">
        <p14:creationId xmlns:p14="http://schemas.microsoft.com/office/powerpoint/2010/main" val="1993784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ED67C-E530-4FBF-BB41-D6A872B7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9413E-C11E-4413-8264-1D9F0BEA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資料基礎｜官方逐時資料先做穩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166AB-6AD8-424A-B771-8C338841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MVP 以環境部 AQX_P_488 歷史資料為主，AQX_P_432 作即時展示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A52D6-E411-409A-81B8-44C1AB73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7A5F0-8FA4-4AA0-AEAC-1DFE6B6C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DA7AA-09D0-40A7-8E92-748CE865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A6107-6C34-4E51-BFA7-F760591E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5095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2FD5B-DDDA-467A-B496-74CDF864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4A09A-54F4-441C-9B1C-010B9AA6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57375"/>
            <a:ext cx="4733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AQX_P_488｜歷史逐時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591DF-F98A-4277-BE8F-AC92F238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57425"/>
            <a:ext cx="4714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AQI、主要污染物、PM₂.₅、PM₁₀、O₃、NO₂、風速風向、座標、測站 ID、發布時間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66605-1BCD-4E7B-9CCF-9A226E72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5095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F4F3B-0803-44C8-95A4-8E0E85A9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2832A-15EE-4592-BDCE-AA70888A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57375"/>
            <a:ext cx="4733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空污 IoT｜約每 3 分鐘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675D3-9D06-4B1C-812D-1590CD68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57425"/>
            <a:ext cx="4714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PM₂.₅、溫度、相對濕度等感測觀測；待確認 API、歷史保存與站點對應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4355C-0D56-4145-9BEC-FFC91905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資料選擇原則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CF70D-870D-450D-925F-BF3F8D1E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7DCED-7065-4C5A-9728-2B83999B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10306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主資料可重現：先確認歷史下載/API 與欄位語意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6B8E9-0397-4063-9563-18887343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A73CE-0330-4E64-B13C-E27F66DE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10306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不把感測器讀值直接當作參考級真值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38812-F7A0-470A-BC69-03E4ED92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95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A6119-3B09-4354-B7A1-9986EF8E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10200"/>
            <a:ext cx="10306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跨來源整合只有在時間與站點可可靠對應時才納入</a:t>
            </a:r>
          </a:p>
        </p:txBody>
      </p:sp>
    </p:spTree>
    <p:extLst>
      <p:ext uri="{BB962C8B-B14F-4D97-AF65-F5344CB8AC3E}">
        <p14:creationId xmlns:p14="http://schemas.microsoft.com/office/powerpoint/2010/main" val="13189903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6EFDA-1C05-4A9A-86F4-421E1AF7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74337-1640-473A-9152-08EF7A82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相關研究｜方法之外，也要理解量測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6222F-80A5-4A7D-8345-588B9DFC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AI 技術與空品領域知識各占一半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2FB6E-45D3-4025-AD0B-BFC06182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3F314-193C-45D7-9EC7-0B09F7AD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1EB8C-4C06-493F-AC44-FE48459B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7F8F0-8406-4886-B926-19013528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AI／資料分析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43F0C-777C-4A96-AD4A-1AD6CF69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286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時間序列趨勢與事件偵測</a:t>
            </a:r>
          </a:p>
          <a:p xmlns:a="http://schemas.openxmlformats.org/drawingml/2006/main">
            <a: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簡單基準與模型比較</a:t>
            </a:r>
          </a:p>
          <a:p xmlns:a="http://schemas.openxmlformats.org/drawingml/2006/main">
            <a: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檢索增強回答與證據核對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39B63-FDCD-46B0-9A15-2BEAF11D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19250"/>
            <a:ext cx="19050" cy="3714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5B332-4F21-446B-B5DA-AF54754A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領域知識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65908-C93E-436B-9A9E-663F330F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4762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AQI 與污染物指標</a:t>
            </a:r>
          </a:p>
          <a:p xmlns:a="http://schemas.openxmlformats.org/drawingml/2006/main">
            <a: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測站代表性、缺漏與發布延遲</a:t>
            </a:r>
          </a:p>
          <a:p xmlns:a="http://schemas.openxmlformats.org/drawingml/2006/main">
            <a:pPr>
              <a:def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微型感測器校正、濕度與漂移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1D786-96CB-4967-B896-FEC9BEE1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10572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CC0A2-38D6-4C3F-8B2B-E23B26BE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2025 文獻提示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DE65B-B8FF-4CE9-B8BE-7132FF74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低成本 PM 感測器的準確度會受濕度、部署時間及校正方式影響；跨站泛化不能預設成立。</a:t>
            </a:r>
          </a:p>
        </p:txBody>
      </p:sp>
    </p:spTree>
    <p:extLst>
      <p:ext uri="{BB962C8B-B14F-4D97-AF65-F5344CB8AC3E}">
        <p14:creationId xmlns:p14="http://schemas.microsoft.com/office/powerpoint/2010/main" val="829508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E2CB9-BB50-4645-8B93-F8A86D71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BD1F7-ED91-4218-9350-CF8F470E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研究缺口｜把數值分析與回答責任接起來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1C71A-2CF9-4CBC-B467-D13FEE87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本提案的缺口仍是待文獻系統性確認的研究假設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41AAC-4CA6-4A71-BA41-D6A401D1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3E03A-AC5A-413A-899F-0809AA10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825B2-DA0A-4A12-BC42-C024A874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83E6F-A159-451F-A8ED-8AA8DCDB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現有能力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91995-1441-4001-A10C-02D9858E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官方測站資料與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感測網路各自提供觀測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FB8F0-2A06-4EC8-862D-EABE2D3E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6C86-FDBB-4C84-8E00-D61D800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尚待處理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FDDA8-579D-49A6-BCE8-F87774E1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資料品質、時間差、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污染物脈絡需一併呈現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5E130-B11D-410C-AC90-AEFBE8DE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1BF68-66BB-426D-9D03-ADE02697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本專題補足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1C457-0E31-4B4B-B8F2-81254527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Agent 對每項結論附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測站、時間與數值證據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A00B2-71D5-4086-A216-DF0395A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ECE3E-7520-4AB9-85F0-1B852E72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如何驗證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7D669-A20C-4C4D-B511-6FF4411E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人工核對來源與數值；</a:t>
            </a:r>
          </a:p>
          <a:p xmlns:a="http://schemas.openxmlformats.org/drawingml/2006/main">
            <a:pPr>
              <a:def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比較透明的簡單基準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42B45-5889-4521-89A2-907F0DC3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572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7830E-4EE2-480B-96E1-53EA2DFC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Research gap（暫定）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9CEE5-0E29-4772-ABE6-DF7D5291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缺少一套針對台灣公開空品資料、同時呈現來源可追溯性、時間/站點脈絡與不確定性，並用明確基準評估的互動式解讀流程。</a:t>
            </a:r>
          </a:p>
        </p:txBody>
      </p:sp>
    </p:spTree>
    <p:extLst>
      <p:ext uri="{BB962C8B-B14F-4D97-AF65-F5344CB8AC3E}">
        <p14:creationId xmlns:p14="http://schemas.microsoft.com/office/powerpoint/2010/main" val="2012753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FDE0CC-B66E-4A42-A523-D19219C1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B8F3F-D1B3-4C07-AA19-1CEA284E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Agent 設計｜問題拆解後才選工具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58F14-5911-48E2-900D-9E9918F9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生成式模型負責理解與表達；數值由資料工具計算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E009D-05E5-42DE-BFE2-24932AD7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84EA1-4AB3-43D5-9AD9-6CABD4E2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FD3A3-AA0F-4C57-8839-4CC498C3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810CB-975C-46F0-B9C7-787016C7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F89E9-858A-4362-BA7F-63DC32E2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2BCBF-991B-49E6-BBAA-1C93B210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判斷意圖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E5071-A41F-4D5B-9C18-11C23A27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趨勢 / 比較 / 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4993B-BED0-4BF3-A69B-691DA5AE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B75E9-16FE-4F4A-8E90-05051196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E7DEC-B6A7-4EA0-BD33-F4B2929A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51C77-1FB3-4DBE-934D-60AB7A5D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取回資料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09076-7367-4FB5-AA86-8F4C374A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測站、時間窗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8D2D8-92A6-4C67-9AC7-9E28B311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79946-C8CE-4BBF-A5A8-F1A92F3C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E9342-A7F3-4D56-BD76-E0876A74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13BC6-7215-4BA0-A327-E98C0ADF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檢查品質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E1DC2-7635-4EE7-A7D4-3395D23F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缺漏、延遲、單位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76EA57-4210-491B-BCB0-4FDA3025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0B7F33-F515-4AA0-BCB1-B2E00CA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39CA0B-A2B9-431D-9476-36858328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E8533-5391-4B7D-8E14-4EFC03C0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執行分析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A60766-F16E-4630-9CF7-45743340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變化、基準、差異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B4A48-62E1-4EC9-A968-EFE9ADD3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02E81-A14F-424C-BCD1-18295562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151612-414D-492E-95B5-EFBBA569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C6D7DD-3916-4F64-8CEC-17F32472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組合證據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A3B60B-F1A0-4840-A7E9-0DB754A5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污染物 + 領域規則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8B18A0-6B3D-43F7-993E-E74B5FDD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33600"/>
            <a:ext cx="63817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828688-926A-46C8-8E1B-C783CCF4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1809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B3C6F5-B312-4DE7-8542-AAC19E63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9145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9F0779-79B7-41F4-95D6-39DC8BEB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14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回答核對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F28169-B97E-4B31-B3BA-66948B72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71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來源、限制、不確定性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45F939-340C-4904-B6A8-EE97A4E3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10610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A075ED-BFEC-44E4-BDAC-7315D140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安全邊界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0BB714-0416-4A18-BD5D-9BA468D6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7197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不推定污染來源、不診斷個人健康、不輸出沒有來源記錄支撐的數值。</a:t>
            </a:r>
          </a:p>
        </p:txBody>
      </p:sp>
    </p:spTree>
    <p:extLst>
      <p:ext uri="{BB962C8B-B14F-4D97-AF65-F5344CB8AC3E}">
        <p14:creationId xmlns:p14="http://schemas.microsoft.com/office/powerpoint/2010/main" val="1699946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142219-0A27-4B47-8644-A903F157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A03A4-78A1-4688-94F9-25B54C30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System Architecture｜資料、分析與領域規則分層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745C5-2625-4B18-ACD3-B607B546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方塊代表可實作模組；IoT 來源為條件式擴充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65D77-08E7-4528-8199-F16FDB41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FE980-CF38-4FC8-ACD7-930449CD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47C61-40AA-42DB-8AA4-13D981E2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D2703-8086-4C72-94C7-09E916D8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77CB3-3301-496E-9E2B-0EA0577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① 使用者</a:t>
            </a:r>
          </a:p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73E39-EFAB-44D7-BC61-8A03622E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地點 / 時段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F8ACA-90FB-4E6A-B160-E8A2DA27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F7DE0-F2C2-437E-9F80-9B517576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C7E11-42EE-4BC2-B7AC-051771AA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② 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A205B-E82E-4177-8C88-454B10D3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意圖 / 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6911B-7EBF-4AA1-91EE-93D48EC3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11455-C914-4496-8B13-0153EC6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AE769-A6E0-4FF5-A9B2-BFACBAA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③ Retrieval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59B87-E728-4DCD-9012-E57EAC77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官方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A1D9C-E6D9-4623-B552-BA38D185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3FF40-CFFD-42AD-AF5F-5E8DD1B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A9716-9D5D-4E68-8454-962223A2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④ Data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6A56D-C617-48BA-8F68-07AE6E28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對齊 / 品質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A7689-7864-449C-A637-84CE715E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5C6FB-A6BE-40D8-877F-027CFC22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E5B47-67B5-4D60-B0A3-F04900DC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⑤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95A578-093D-4AD0-8549-E9A8B7C2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趨勢 / 事件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975ECD-98B7-4A1C-9FCA-FB7D7682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FDB014-D710-4CD5-8466-6254027D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EC3D74-FD8F-4AEA-ABA5-90FC64C1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⑥ Domain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DAF792-45EF-497A-AF66-6931FC4C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AQI / 限制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050591-92CD-4500-B5F8-16A0CE51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D6FBD8-A789-4556-820D-F7FF3811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B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6481F-AE11-4F52-A005-2A418C8A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⑦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EE9826-9229-44A9-8786-8C579E14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來源核對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9321E1-5561-413E-89AC-355B5CB9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762250"/>
            <a:ext cx="133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29A8F5-84A7-4E86-A328-0C85EA7B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38375"/>
            <a:ext cx="12573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6E4D98-AAB9-4102-ADEA-5C8EC64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1104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⑧ Output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4A9887-1947-426A-9ACF-630DF5CB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241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解釋 / 限制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3D6538-7C20-4B96-A035-E5B2E1E4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19575"/>
            <a:ext cx="30003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2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9AEF03-BA79-4B72-8BDC-74F13DD0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719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477B8B"/>
                </a:solidFill>
                <a:latin typeface="Microsoft JhengHei"/>
                <a:ea typeface="Microsoft JhengHei"/>
                <a:cs typeface="Microsoft JhengHei"/>
              </a:rPr>
              <a:t>MOENV AQX_P_488｜歷史資料主來源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89297C-4CAC-490E-B485-59C8F0C9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19575"/>
            <a:ext cx="3429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DD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264490-452C-4186-B13A-0E1356F3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71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Civil IoT 感測資料｜可選擴充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4B771C-5136-405D-B67C-A6C0E321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14700"/>
            <a:ext cx="0" cy="904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66728A-B15E-433D-9F4B-4C318AB6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14700"/>
            <a:ext cx="0" cy="904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318417-3A2F-4CA8-B16B-70E264FC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795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回答必須可回連至測站、發布時間、欄位與原始來源。</a:t>
            </a:r>
          </a:p>
        </p:txBody>
      </p:sp>
    </p:spTree>
    <p:extLst>
      <p:ext uri="{BB962C8B-B14F-4D97-AF65-F5344CB8AC3E}">
        <p14:creationId xmlns:p14="http://schemas.microsoft.com/office/powerpoint/2010/main" val="45928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C6FE8-8130-48E0-8881-14B25632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75330-C2BA-47E0-89C7-E3D11BA1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Flowchart｜資料不足時明確回報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46A66-8CFE-4E7C-AC92-E885155C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以例外路徑避免把缺漏資料包裝成確定答案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09192-729E-433B-A27F-72DAC33B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7F9E7-B33B-4841-952E-75C2631A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642EB-3722-4F58-AB11-E44EE2EB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3662F-4799-42AE-AE2A-6165304A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942AF-F376-4B2D-A4A4-8C6A9392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81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收到問題 → 解析地點與時間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6C80F-6DBD-4096-9E5B-372287C7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90725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B1A94-5C52-4FAD-9DFA-04FDF815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8600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D2CE6-2BD0-4B32-B2B9-19234EEE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907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取回對應測站紀錄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F2E3D-D123-4939-943A-894207DD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404E8-725B-4D2F-A0C6-FF6972A5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9562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DB55A-D94E-4C90-92E9-3FD8CF81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004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檢查新鮮度、缺漏與時間連續性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690AF-AB57-4ADD-92EC-7B8B7419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9975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98CB0-1469-409E-B8AA-DEC7716D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F2259-7B4A-4B0B-9A48-22504EB7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00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執行趨勢 / 事件 / 站點比較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E82E9-30B8-471D-8376-32D70551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19600"/>
            <a:ext cx="0" cy="2952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FDAA2-3BB1-462C-B40A-93BF60C2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148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6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2987E-F097-46B7-B734-B5D53FFF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附證據與限制產生回答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E93A5-0C6D-430C-9C92-457D2520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1428750" cy="9048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5E4D9"/>
          </a:solidFill>
          <a:ln xmlns:a="http://schemas.openxmlformats.org/drawingml/2006/main" w="9525">
            <a:solidFill>
              <a:srgbClr val="E48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0A808-21C5-4B09-B7E8-98284578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527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資料足夠？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7AAD29-955D-47FF-8898-C1297921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43275"/>
            <a:ext cx="7429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AC64D-0174-4AFC-BF5F-874599C8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28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70412F-B646-4F51-B0E1-532416A0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90950"/>
            <a:ext cx="0" cy="571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64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268460-3487-4F6B-B350-77F6BED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95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4A03FA-3D17-483F-BA84-6A310A69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5717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AE7"/>
          </a:solidFill>
          <a:ln xmlns:a="http://schemas.openxmlformats.org/drawingml/2006/main" w="9525">
            <a:solidFill>
              <a:srgbClr val="A64B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E634D9-AF1C-4E9C-8823-1CCC099E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57700"/>
            <a:ext cx="2190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回報資料缺口</a:t>
            </a:r>
          </a:p>
          <a:p xmlns:a="http://schemas.openxmlformats.org/drawingml/2006/main">
            <a: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與最後更新時間</a:t>
            </a:r>
          </a:p>
        </p:txBody>
      </p:sp>
    </p:spTree>
    <p:extLst>
      <p:ext uri="{BB962C8B-B14F-4D97-AF65-F5344CB8AC3E}">
        <p14:creationId xmlns:p14="http://schemas.microsoft.com/office/powerpoint/2010/main" val="12210778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D5668-695F-4D58-8D93-BA844CA3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2EC34-E86C-42E1-8A42-71F8B72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核心演算法｜每項結論都保留來源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3FC9E-EDA3-452B-BF8D-861F3EB2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數值分析由工具執行，LLM 不直接編造監測數值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CF32A-DF62-4FEB-9D1C-79E4AC0F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B7E53-2016-4220-AFFB-1CF5219E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90809-8810-4DE8-8136-745D3DA1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D5745-2223-4745-B084-DF238138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01  intent, place, period, pollutant ← parse(question)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142D0-6C8F-4F12-BC97-4AD34091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02  stations ← select_supported_stations(place)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5E763-DF18-4A08-9A53-1A6DEBB8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03  records ← retrieve(stations, period)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495DD-A617-47C7-A743-DE07971B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04  if records empty: return source_status_and_gap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966E5-A2EB-4B52-8766-6B0F6C70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05  records ← normalize_units_and_timestamps(records)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39200-F294-47C2-8422-1F5F0810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06  quality ← check_missingness_duplicates_freshness(records)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6B547-C4F1-4CED-A325-CF794B97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07  if evidence insufficient: return limitation_response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72FA6-63A4-43BB-863E-3E289CB3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08  result ← analyze_trend_event_or_station_difference(records)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79214-452B-43D7-B792-66521A40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09  result ← compare_with_simple_baseline_if_needed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FD006-6C0A-4CA9-86D4-78FF7ABE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10  claims ← apply_domain_rules_and_attach_provenance(result)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7C858-68BF-4350-A27D-5DFECBA6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11  claims ← remove_or_qualify_unsupported_claims(claims)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A80B1-EE78-4CEC-866A-2F133799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12  return answer(values, timestamps, sources, uncertainty)</a:t>
            </a:r>
          </a:p>
        </p:txBody>
      </p:sp>
    </p:spTree>
    <p:extLst>
      <p:ext uri="{BB962C8B-B14F-4D97-AF65-F5344CB8AC3E}">
        <p14:creationId xmlns:p14="http://schemas.microsoft.com/office/powerpoint/2010/main" val="17746271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49A7AA-C10C-4394-B25B-15DCBD11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DC1F7-6771-464C-B9FB-5D1BDC37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Evaluation｜檢查分析品質，也檢查回答是否有據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F949E-F516-451E-B9FD-F1F9BCD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不以語言流暢度代替正確性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71E42-8912-411F-A7AF-6B0BD45C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9F8EF-1537-4089-8264-0B655967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83346-F7D2-478F-8B5A-3D8846D1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8DDEE-4E86-4BE4-B251-00826344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4558C-5146-439F-BE1B-364ACCD6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79C1D-18C6-4012-884F-D012286F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資料品質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2BCC7-3EC4-49B0-9998-11DE19F2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217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完整率、重複筆數、時間戳合法率、資料新鮮度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F5822-8AE4-46F1-B26C-8A60880F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62481-00F4-4C2D-B61D-BF142287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4182A-6A3C-4131-80CB-D01D148E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621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分析效果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F85A6-81F5-4D87-9D48-835F6C62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6217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與門檻/持續性簡單基準比較；依任務選 precision、recall、F1 或 MAE/RMSE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E1261-0C2C-4B56-A85E-53A2EA98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2C37B-74CC-4011-A9D5-0C48B9B1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B9322-2FB8-4738-8833-7579D5EB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證據忠實度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6BA7E-2403-40C9-B0D9-4C24193C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抽查測站、時間、數值、主要污染物是否與取回紀錄吻合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673D2-4646-4FC7-9488-93983BA2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壓力案例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CC57F-4BAE-4FC7-9842-9C8B9996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5BFAD-30A3-424B-85D1-03635BEE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資料陳舊或中斷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3B6F7-5537-4D6C-8BA5-764AB382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FFFCB-8AF6-4E54-99C9-1BCB21C3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鄰近測站讀值相反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6CABA3-1FEE-4389-90A8-7E71EF13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1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950E9-7CDD-4CE3-BBC0-6556A4A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微型感測與官方測站不一致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4AFD88-C599-432A-9E9B-12BDF066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29A29E-6B8F-467F-B040-5A9870DC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62575"/>
            <a:ext cx="9925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問題超出資料能回答的範圍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B14F0-3F6E-494F-ADE5-E4059B2F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64B42"/>
                </a:solidFill>
                <a:latin typeface="Microsoft JhengHei"/>
                <a:ea typeface="Microsoft JhengHei"/>
                <a:cs typeface="Microsoft JhengHei"/>
              </a:rPr>
              <a:t>若無可靠事件標籤，不宣稱事件分類準確率；先定義標註規則與案例集。</a:t>
            </a:r>
          </a:p>
        </p:txBody>
      </p:sp>
    </p:spTree>
    <p:extLst>
      <p:ext uri="{BB962C8B-B14F-4D97-AF65-F5344CB8AC3E}">
        <p14:creationId xmlns:p14="http://schemas.microsoft.com/office/powerpoint/2010/main" val="17268146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238B96-F1AF-46DE-BC70-0126D859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7D1E1-CE91-4CC7-8829-D87B7BD3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預期成果與下一步｜先驗證資料，再鎖定實驗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B53D1-4F7F-4C65-B6FA-1300A1F1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本提案尚未進行模型實驗，以下均為預期工作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91951-04A8-441B-8FFF-FFEDC4BC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C94E0-F9A1-4EEB-AC37-A12883E9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台灣空氣品質證據分析代理人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749A1-F62D-4CC0-94DC-BEC5DEEB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A9A2A-A301-4CD2-82AC-2C940A8E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097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87E73"/>
                </a:solidFill>
                <a:latin typeface="Microsoft JhengHei"/>
                <a:ea typeface="Microsoft JhengHei"/>
                <a:cs typeface="Microsoft JhengHei"/>
              </a:rPr>
              <a:t>預期成果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48155-5002-4400-B2E7-2809A4DD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F09EB-7345-4384-8CB4-E985E70A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114550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可重現的台灣空品資料整理流程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976FC-B342-4956-A73E-D30687E4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5E5C8-9F7C-4E81-9AC8-A22C0DFF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95575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可追溯來源的 Agent 原型與失敗案例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49046-36E2-410A-80EA-9CEA44F4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28422-9735-498E-847F-6FE45142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76600"/>
            <a:ext cx="5448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公開的評估方法、限制與設計文件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A8EA6-991A-4CE6-B6EF-E96340EB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9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8A4A"/>
                </a:solidFill>
                <a:latin typeface="Microsoft JhengHei"/>
                <a:ea typeface="Microsoft JhengHei"/>
                <a:cs typeface="Microsoft JhengHei"/>
              </a:rPr>
              <a:t>近期資料查核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C9F67-4D7F-4E54-8C6B-CFBFC3F6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B15D2-83FD-4FAF-8D65-B3F7EC6F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確認歷史下載 / API 取得流程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A8802-0B78-4E87-A2E6-31AF16D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FBEAF-FAE7-4122-B402-14C2A3F6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盤點站點連續性與缺值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1BC66-267D-4D40-9D3E-1B11FA6B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8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F5994-3489-4A3B-95C8-F15FBC06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76600"/>
            <a:ext cx="4114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再決定校園或跨區研究範圍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947E0-33A4-4D25-AA7A-2A317105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0620375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C7D2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C47D8-1759-4305-90A0-96DF7B48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52D35"/>
                </a:solidFill>
                <a:latin typeface="Microsoft JhengHei"/>
                <a:ea typeface="Microsoft JhengHei"/>
                <a:cs typeface="Microsoft JhengHei"/>
              </a:rPr>
              <a:t>主要來源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33BE3D-CECE-4D44-AD4A-75414968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MOENV AQX_P_432｜data.moenv.gov.tw/dataset/detail/aqx_p_432</a:t>
            </a:r>
          </a:p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MOENV Air-pollution sensing IoT｜env.moenv.gov.tw/Issue/Index/53b6ae55-bb69-449e-953e-01c2330ca3b8</a:t>
            </a:r>
          </a:p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Fang et al. (2025)｜doi:10.1016/j.scitotenv.2025.180106</a:t>
            </a:r>
          </a:p>
          <a:p xmlns:a="http://schemas.openxmlformats.org/drawingml/2006/main">
            <a:pPr>
              <a:def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7174"/>
                </a:solidFill>
                <a:latin typeface="Microsoft JhengHei"/>
                <a:ea typeface="Microsoft JhengHei"/>
                <a:cs typeface="Microsoft JhengHei"/>
              </a:rPr>
              <a:t>STOTEN (2025)｜doi:10.1016/j.scitotenv.2025.179364</a:t>
            </a:r>
          </a:p>
        </p:txBody>
      </p:sp>
    </p:spTree>
    <p:extLst>
      <p:ext uri="{BB962C8B-B14F-4D97-AF65-F5344CB8AC3E}">
        <p14:creationId xmlns:p14="http://schemas.microsoft.com/office/powerpoint/2010/main" val="1553225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2026-10-29T08:11:36.0770000Z</dcterms:created>
  <dcterms:modified xsi:type="dcterms:W3CDTF">2026-10-29T08:11:36.0770000Z</dcterms:modified>
</coreProperties>
</file>