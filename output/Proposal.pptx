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a862aabab342a6" /><Relationship Type="http://schemas.openxmlformats.org/officeDocument/2006/relationships/extended-properties" Target="/docProps/app.xml" Id="Rc45868f958e041a9" /><Relationship Type="http://schemas.openxmlformats.org/officeDocument/2006/relationships/officeDocument" Target="/ppt/presentation.xml" Id="R4c15a1d12c54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01d2abefcb4660"/>
  </p:sldMasterIdLst>
  <p:notesMasterIdLst>
    <p:notesMasterId xmlns:r="http://schemas.openxmlformats.org/officeDocument/2006/relationships" r:id="Rb7e3dd076c0945c3"/>
  </p:notesMasterIdLst>
  <p:sldIdLst>
    <p:sldId xmlns:r="http://schemas.openxmlformats.org/officeDocument/2006/relationships" id="256" r:id="R695aec4adea343ba"/>
    <p:sldId xmlns:r="http://schemas.openxmlformats.org/officeDocument/2006/relationships" id="257" r:id="R9d0a8cec69034133"/>
    <p:sldId xmlns:r="http://schemas.openxmlformats.org/officeDocument/2006/relationships" id="258" r:id="R0446157453f64a39"/>
    <p:sldId xmlns:r="http://schemas.openxmlformats.org/officeDocument/2006/relationships" id="259" r:id="Red9eb6047656426e"/>
    <p:sldId xmlns:r="http://schemas.openxmlformats.org/officeDocument/2006/relationships" id="260" r:id="R1a33a4c0fc65451b"/>
    <p:sldId xmlns:r="http://schemas.openxmlformats.org/officeDocument/2006/relationships" id="261" r:id="Rc9d50d4e6022439a"/>
    <p:sldId xmlns:r="http://schemas.openxmlformats.org/officeDocument/2006/relationships" id="262" r:id="Rfeacb2adabaa4656"/>
    <p:sldId xmlns:r="http://schemas.openxmlformats.org/officeDocument/2006/relationships" id="263" r:id="R7143bca0c0954683"/>
    <p:sldId xmlns:r="http://schemas.openxmlformats.org/officeDocument/2006/relationships" id="264" r:id="R0942756e94bb46eb"/>
    <p:sldId xmlns:r="http://schemas.openxmlformats.org/officeDocument/2006/relationships" id="265" r:id="R0f8898fc238c4ddd"/>
    <p:sldId xmlns:r="http://schemas.openxmlformats.org/officeDocument/2006/relationships" id="266" r:id="Re540474b9daf4ce7"/>
    <p:sldId xmlns:r="http://schemas.openxmlformats.org/officeDocument/2006/relationships" id="267" r:id="Rd970fca7e5ad4899"/>
    <p:sldId xmlns:r="http://schemas.openxmlformats.org/officeDocument/2006/relationships" id="268" r:id="R3f9c6a7c0f4b47cd"/>
    <p:sldId xmlns:r="http://schemas.openxmlformats.org/officeDocument/2006/relationships" id="269" r:id="Rd0bd254099674ca7"/>
    <p:sldId xmlns:r="http://schemas.openxmlformats.org/officeDocument/2006/relationships" id="270" r:id="R99c57dcd4ba94cf7"/>
    <p:sldId xmlns:r="http://schemas.openxmlformats.org/officeDocument/2006/relationships" id="271" r:id="Rcd40fda417254d0c"/>
    <p:sldId xmlns:r="http://schemas.openxmlformats.org/officeDocument/2006/relationships" id="272" r:id="R759766bd164348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f9acf5574841a8" /><Relationship Type="http://schemas.openxmlformats.org/officeDocument/2006/relationships/slideMaster" Target="/ppt/slideMasters/slideMaster1.xml" Id="R0601d2abefcb4660" /><Relationship Type="http://schemas.openxmlformats.org/officeDocument/2006/relationships/notesMaster" Target="/ppt/notesMasters/notesMaster1.xml" Id="Rb7e3dd076c0945c3" /><Relationship Type="http://schemas.openxmlformats.org/officeDocument/2006/relationships/presProps" Target="/ppt/presProps.xml" Id="Ra9ae61d0ecae45a6" /><Relationship Type="http://schemas.openxmlformats.org/officeDocument/2006/relationships/tableStyles" Target="/ppt/tableStyles.xml" Id="Rbbc67266e29340ed" /><Relationship Type="http://schemas.openxmlformats.org/officeDocument/2006/relationships/slide" Target="/ppt/slides/slide1.xml" Id="R695aec4adea343ba" /><Relationship Type="http://schemas.openxmlformats.org/officeDocument/2006/relationships/slide" Target="/ppt/slides/slide2.xml" Id="R9d0a8cec69034133" /><Relationship Type="http://schemas.openxmlformats.org/officeDocument/2006/relationships/slide" Target="/ppt/slides/slide3.xml" Id="R0446157453f64a39" /><Relationship Type="http://schemas.openxmlformats.org/officeDocument/2006/relationships/slide" Target="/ppt/slides/slide4.xml" Id="Red9eb6047656426e" /><Relationship Type="http://schemas.openxmlformats.org/officeDocument/2006/relationships/slide" Target="/ppt/slides/slide5.xml" Id="R1a33a4c0fc65451b" /><Relationship Type="http://schemas.openxmlformats.org/officeDocument/2006/relationships/slide" Target="/ppt/slides/slide6.xml" Id="Rc9d50d4e6022439a" /><Relationship Type="http://schemas.openxmlformats.org/officeDocument/2006/relationships/slide" Target="/ppt/slides/slide7.xml" Id="Rfeacb2adabaa4656" /><Relationship Type="http://schemas.openxmlformats.org/officeDocument/2006/relationships/slide" Target="/ppt/slides/slide8.xml" Id="R7143bca0c0954683" /><Relationship Type="http://schemas.openxmlformats.org/officeDocument/2006/relationships/slide" Target="/ppt/slides/slide9.xml" Id="R0942756e94bb46eb" /><Relationship Type="http://schemas.openxmlformats.org/officeDocument/2006/relationships/slide" Target="/ppt/slides/slide10.xml" Id="R0f8898fc238c4ddd" /><Relationship Type="http://schemas.openxmlformats.org/officeDocument/2006/relationships/slide" Target="/ppt/slides/slide11.xml" Id="Re540474b9daf4ce7" /><Relationship Type="http://schemas.openxmlformats.org/officeDocument/2006/relationships/slide" Target="/ppt/slides/slide12.xml" Id="Rd970fca7e5ad4899" /><Relationship Type="http://schemas.openxmlformats.org/officeDocument/2006/relationships/slide" Target="/ppt/slides/slide13.xml" Id="R3f9c6a7c0f4b47cd" /><Relationship Type="http://schemas.openxmlformats.org/officeDocument/2006/relationships/slide" Target="/ppt/slides/slide14.xml" Id="Rd0bd254099674ca7" /><Relationship Type="http://schemas.openxmlformats.org/officeDocument/2006/relationships/slide" Target="/ppt/slides/slide15.xml" Id="R99c57dcd4ba94cf7" /><Relationship Type="http://schemas.openxmlformats.org/officeDocument/2006/relationships/slide" Target="/ppt/slides/slide16.xml" Id="Rcd40fda417254d0c" /><Relationship Type="http://schemas.openxmlformats.org/officeDocument/2006/relationships/slide" Target="/ppt/slides/slide17.xml" Id="R759766bd164348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206dbf7e6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09174320d7433f" /><Relationship Type="http://schemas.openxmlformats.org/officeDocument/2006/relationships/notesMaster" Target="/ppt/notesMasters/notesMaster1.xml" Id="R97455116b5bd43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196150a22e4baf" /><Relationship Type="http://schemas.openxmlformats.org/officeDocument/2006/relationships/notesMaster" Target="/ppt/notesMasters/notesMaster1.xml" Id="Rde651a476b4841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29b80b1bd495a" /><Relationship Type="http://schemas.openxmlformats.org/officeDocument/2006/relationships/notesMaster" Target="/ppt/notesMasters/notesMaster1.xml" Id="R46019b2b6d6849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ac26ec1444430" /><Relationship Type="http://schemas.openxmlformats.org/officeDocument/2006/relationships/notesMaster" Target="/ppt/notesMasters/notesMaster1.xml" Id="Ra7e52ca5e10247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6ad0252fa4666" /><Relationship Type="http://schemas.openxmlformats.org/officeDocument/2006/relationships/notesMaster" Target="/ppt/notesMasters/notesMaster1.xml" Id="Rc439c7554d8f4a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7597b82054b63" /><Relationship Type="http://schemas.openxmlformats.org/officeDocument/2006/relationships/notesMaster" Target="/ppt/notesMasters/notesMaster1.xml" Id="R4372dd7fc4bd49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85a6c6cdb4039" /><Relationship Type="http://schemas.openxmlformats.org/officeDocument/2006/relationships/notesMaster" Target="/ppt/notesMasters/notesMaster1.xml" Id="R362b30cd29214a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0b7035ef0540a8" /><Relationship Type="http://schemas.openxmlformats.org/officeDocument/2006/relationships/notesMaster" Target="/ppt/notesMasters/notesMaster1.xml" Id="Ra4f5f541d95540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90f25772cb4023" /><Relationship Type="http://schemas.openxmlformats.org/officeDocument/2006/relationships/notesMaster" Target="/ppt/notesMasters/notesMaster1.xml" Id="R8c59d26675e14b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44bb0d0997467e" /><Relationship Type="http://schemas.openxmlformats.org/officeDocument/2006/relationships/notesMaster" Target="/ppt/notesMasters/notesMaster1.xml" Id="Re8ee83f6eed345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c9b597aa1e4d2b" /><Relationship Type="http://schemas.openxmlformats.org/officeDocument/2006/relationships/notesMaster" Target="/ppt/notesMasters/notesMaster1.xml" Id="Rfedd5f0bba6a44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edb9a3f5c244d7" /><Relationship Type="http://schemas.openxmlformats.org/officeDocument/2006/relationships/notesMaster" Target="/ppt/notesMasters/notesMaster1.xml" Id="Rd1d8a0fccce74a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7fc7887a1441e2" /><Relationship Type="http://schemas.openxmlformats.org/officeDocument/2006/relationships/notesMaster" Target="/ppt/notesMasters/notesMaster1.xml" Id="R55596dea675843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ee30ebc28f47ac" /><Relationship Type="http://schemas.openxmlformats.org/officeDocument/2006/relationships/notesMaster" Target="/ppt/notesMasters/notesMaster1.xml" Id="Rbd43d51faeab4c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c76568985a4bc7" /><Relationship Type="http://schemas.openxmlformats.org/officeDocument/2006/relationships/notesMaster" Target="/ppt/notesMasters/notesMaster1.xml" Id="Rf71f9c732b104e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f4ac3d68dc4d59" /><Relationship Type="http://schemas.openxmlformats.org/officeDocument/2006/relationships/notesMaster" Target="/ppt/notesMasters/notesMaster1.xml" Id="R921e8c4ec91942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f9637331c543eb" /><Relationship Type="http://schemas.openxmlformats.org/officeDocument/2006/relationships/notesMaster" Target="/ppt/notesMasters/notesMaster1.xml" Id="R0758376b6a074f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主要資料來源為環境部 AQX_P_488：https://data.moenv.gov.tw/dataset/detail/aqx_p_488。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2025 reports that air-pollution exposure is associated with nearly one in eight deaths globally: https://www.who.int/publications/i/item/B09461. Taiwan MOENV hourly historical data: https://data.moenv.gov.tw/dataset/detail/aqx_p_488.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研究問題與限制是本提案的操作定義，將透過文獻回顧與資料盤點驗證。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來源：MOENV AQX_P_488 https://data.moenv.gov.tw/dataset/detail/aqx_p_488；即時資料 AQX_P_432 https://data.moenv.gov.tw/dataset/detail/aqx_p_432；MOENV air-pollution sensing IoT https://env.moenv.gov.tw/en/Issue/Index/53b6ae55-bb69-449e-953e-01c2330ca3b8。API key、歷史資料保存和查詢限制仍需實測。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 et al. Neuro-Air (2026), https://www.nature.com/articles/s44407-026-00102-4. Anomaly work DOI 10.1109/ACCESS.2025.3604216. Yenkikar et al. DOI 10.1016/j.mex.2025.103517. Taiwan forecast Lee et al. DOI 10.1038/s41598-020-61151-7. Sensor work: Tzeng et al. DOI 10.1111/biom.13819; Dong et al. DOI 10.1016/j.scitotenv.2025.179364; Fang et al. DOI 10.1016/j.scitotenv.2025.180106; Lekamge and Oswin DOI 10.1038/s41612-025-01115-8.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is a hypothesis, not a verified claim. Confirm after systematic review of air-quality dashboards, retrieval-grounded agents, and sensor data quality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流程為提案設計。風險與健康用語會依權威領域資料進一步校對。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資料來源與欄位見研究文件及 DESIGN.md。SensorThings API 資料對應須先完成驗證。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is the intended MVP interaction. The agent may ask a follow-up if location/time cannot be resolved; it should never conceal missing or stale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is intentionally model-agnostic; final algorithm and baseline will depend on historical data coverage and team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protocol is proposed, not executed. See slide 16 and 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 appear in Proposal.md. The proposed evaluation has not yet been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MOENV AQI method: https://air.moenv.gov.tw/envtopics/AirQuality_1.aspx. WHO AQG: https://www.who.int/publications/i/item/9789240034228. Site representativeness and sensor siting: https://www.epa.gov/air-sensor-toolbox/guide-siting-and-installing-air-sensors.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Dong et al. (2025) DOI 10.1016/j.scitotenv.2025.179364; Fang et al. (2025) DOI 10.1016/j.scitotenv.2025.180106; Neuro-Air (2026) https://www.nature.com/articles/s44407-026-00102-4.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proposal documents these research questions as a review checklist, not as completed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evaluation matrix in Proposal.md. Results are not yet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domain sources: Dong et al. (2025), doi:10.1016/j.scitotenv.2025.179364; Fang et al. (2025), doi:10.1016/j.scitotenv.2025.180106; Lekamge and Oswin (2025), doi:10.1038/s41612-025-01115-8. URLs are listed in 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88e51cfbf43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154ac5e004c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af2ec7a5441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e5adad43e47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9fd85eee948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6dbcd7cf844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C77242-F822-4956-AD4A-8E8936FBC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78CF52-3117-40D6-9C43-98EF398CD9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F86E10-73CC-4873-9AFD-B4DA9A963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8E6A28-8C6D-4BE4-AA80-7544F15BE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51A4CB-786C-4D3A-B786-BD005BB57D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94F97B-2C8B-4DAB-B3F5-C2672E7EC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E6B86A-94A8-4F04-89EB-E2C8B633E6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BD1755-6664-4525-B391-D8D0E559DE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BB5B9E-DD82-4090-BB53-17267D40E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D71308-16F1-4A3E-A5A1-748CF29579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2742ec1304f59" /><Relationship Type="http://schemas.openxmlformats.org/officeDocument/2006/relationships/slideLayout" Target="/ppt/slideLayouts/slideLayout1.xml" Id="Red01aa4e61cb47b6" /><Relationship Type="http://schemas.openxmlformats.org/officeDocument/2006/relationships/slideLayout" Target="/ppt/slideLayouts/slideLayout2.xml" Id="R7fc5760202e34268" /><Relationship Type="http://schemas.openxmlformats.org/officeDocument/2006/relationships/slideLayout" Target="/ppt/slideLayouts/slideLayout3.xml" Id="R82f7af66e3a142dc" /><Relationship Type="http://schemas.openxmlformats.org/officeDocument/2006/relationships/slideLayout" Target="/ppt/slideLayouts/slideLayout4.xml" Id="R78500ca5c6b04170" /><Relationship Type="http://schemas.openxmlformats.org/officeDocument/2006/relationships/slideLayout" Target="/ppt/slideLayouts/slideLayout5.xml" Id="R5e4d2aca09e44a1b" /><Relationship Type="http://schemas.openxmlformats.org/officeDocument/2006/relationships/slideLayout" Target="/ppt/slideLayouts/slideLayout6.xml" Id="R5dce968d009f4a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01aa4e61cb47b6"/>
    <p:sldLayoutId xmlns:r="http://schemas.openxmlformats.org/officeDocument/2006/relationships" id="2147483650" r:id="R7fc5760202e34268"/>
    <p:sldLayoutId xmlns:r="http://schemas.openxmlformats.org/officeDocument/2006/relationships" id="2147483651" r:id="R82f7af66e3a142dc"/>
    <p:sldLayoutId xmlns:r="http://schemas.openxmlformats.org/officeDocument/2006/relationships" id="2147483652" r:id="R78500ca5c6b04170"/>
    <p:sldLayoutId xmlns:r="http://schemas.openxmlformats.org/officeDocument/2006/relationships" id="2147483653" r:id="R5e4d2aca09e44a1b"/>
    <p:sldLayoutId xmlns:r="http://schemas.openxmlformats.org/officeDocument/2006/relationships" id="2147483654" r:id="R5dce968d009f4a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a0e08b1f04869" /><Relationship Type="http://schemas.openxmlformats.org/officeDocument/2006/relationships/notesSlide" Target="/ppt/notesSlides/notesSlide1.xml" Id="Ree6392e676cf4c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d71e1cc6243d5" /><Relationship Type="http://schemas.openxmlformats.org/officeDocument/2006/relationships/notesSlide" Target="/ppt/notesSlides/notesSlide2.xml" Id="Rf2c430e02ab74c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66e1b16ea41e0" /><Relationship Type="http://schemas.openxmlformats.org/officeDocument/2006/relationships/notesSlide" Target="/ppt/notesSlides/notesSlide3.xml" Id="R60a68c230eec43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1b1c16c6d444b" /><Relationship Type="http://schemas.openxmlformats.org/officeDocument/2006/relationships/notesSlide" Target="/ppt/notesSlides/notesSlide4.xml" Id="R720e1ecd6d8240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90226f5dd4484" /><Relationship Type="http://schemas.openxmlformats.org/officeDocument/2006/relationships/notesSlide" Target="/ppt/notesSlides/notesSlide5.xml" Id="R25759b812f1648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4eb2b8ef74ada" /><Relationship Type="http://schemas.openxmlformats.org/officeDocument/2006/relationships/notesSlide" Target="/ppt/notesSlides/notesSlide6.xml" Id="Raf0caa61800c47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a89ef92f7485d" /><Relationship Type="http://schemas.openxmlformats.org/officeDocument/2006/relationships/notesSlide" Target="/ppt/notesSlides/notesSlide7.xml" Id="R4b368eebc2fa41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5f4d0b4514b92" /><Relationship Type="http://schemas.openxmlformats.org/officeDocument/2006/relationships/notesSlide" Target="/ppt/notesSlides/notesSlide8.xml" Id="R699ea2a227bc47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d6c06d91149e6" /><Relationship Type="http://schemas.openxmlformats.org/officeDocument/2006/relationships/notesSlide" Target="/ppt/notesSlides/notesSlide9.xml" Id="Rffd2c25744e74d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e941605574fb5" /><Relationship Type="http://schemas.openxmlformats.org/officeDocument/2006/relationships/notesSlide" Target="/ppt/notesSlides/notesSlide10.xml" Id="R587b134eab2d49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24be03f094301" /><Relationship Type="http://schemas.openxmlformats.org/officeDocument/2006/relationships/notesSlide" Target="/ppt/notesSlides/notesSlide11.xml" Id="Rbc5244ab7d4b46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2b87291c34964" /><Relationship Type="http://schemas.openxmlformats.org/officeDocument/2006/relationships/notesSlide" Target="/ppt/notesSlides/notesSlide12.xml" Id="R46ea14c263b443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c2e342d694c7b" /><Relationship Type="http://schemas.openxmlformats.org/officeDocument/2006/relationships/notesSlide" Target="/ppt/notesSlides/notesSlide13.xml" Id="R2640aad4e29b4a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88679f6d8401c" /><Relationship Type="http://schemas.openxmlformats.org/officeDocument/2006/relationships/notesSlide" Target="/ppt/notesSlides/notesSlide14.xml" Id="Rabda9f1f96e343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5f9a7d23841ae" /><Relationship Type="http://schemas.openxmlformats.org/officeDocument/2006/relationships/notesSlide" Target="/ppt/notesSlides/notesSlide15.xml" Id="Rf6a0353d21444d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4a062d3be4086" /><Relationship Type="http://schemas.openxmlformats.org/officeDocument/2006/relationships/notesSlide" Target="/ppt/notesSlides/notesSlide16.xml" Id="R79521f23abed4f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a472692084179" /><Relationship Type="http://schemas.openxmlformats.org/officeDocument/2006/relationships/notesSlide" Target="/ppt/notesSlides/notesSlide17.xml" Id="R156370c6047046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AFF78-0945-40B4-8A69-CE6DFC9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BD9A-C6B7-4F39-918B-61977B9D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A3E99-1A8D-44AE-8396-DA17FFA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35E39-1CCA-4F53-A445-4FEBDFE8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期末專題提案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567B6-F565-4B6A-90E3-A045151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381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台灣空氣品質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80CC7-9671-47D4-B1DF-42D078C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26085-A47D-4494-A8EB-83C11A5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以逐時監測資料解讀污染事件、趨勢與站點差異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DACE9-2D4E-43F5-B980-CF45B849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rPr>
              <a:t>Proposal  ·  2026</a:t>
            </a:r>
          </a:p>
        </p:txBody>
      </p:sp>
    </p:spTree>
    <p:extLst>
      <p:ext uri="{BB962C8B-B14F-4D97-AF65-F5344CB8AC3E}">
        <p14:creationId xmlns:p14="http://schemas.microsoft.com/office/powerpoint/2010/main" val="31957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4CA0B-8810-4016-AD31-6102A68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76AFD-B8D7-486F-AA49-FAFFF44E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研究動機｜資料很多，解讀仍需要脈絡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DEB14-8FE9-4104-88BD-EFBFBBD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從可查詢的監測值，走向可追溯的事件解讀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BED60-8F0E-4E3D-8671-653CFD4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EE9E5-3D30-400E-B4A8-7BD8A3EA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709CA-CD57-4ED2-B716-A68AD7F2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F0BFB-EF43-4027-81A4-7DFB641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逐時官方資料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53812-3C63-4E74-BF60-7A0AD301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AQI、污染物、風場、座標、發布時間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753FB-99F2-4FF0-9539-1AF342F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24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257D7-BB1C-4493-957D-68A78B9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使用者真正想知道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B117F-B0D3-426A-A544-3F3253D3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86071-D7FD-4200-9FA2-35D0A81E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哪個污染物帶動指標變化？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2692E-4F77-4841-A55B-D2D0EC54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A7BE3-7299-43F8-B9A1-FD44E797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附近測站是否也出現相同變化？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080E9-E00D-4219-B16A-D212083D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58510-DFBB-4288-BDA2-AD1A2902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資料有多新、能支持什麼結論？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2AA18-CF2B-4E29-B2F8-37BC63E7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EDA24-4DBE-49E8-B1FB-9D5F5CEF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約 1/8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F7CF1-CCEA-47C8-B906-290F831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全球死亡與空污暴露相關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BD7E4-3C46-4247-A2DA-40EAAAD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WHO 2025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5B86E-A2D0-4257-A9F6-B46FCF7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71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台灣逐時站點資料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EB9D8-14EB-4359-8705-CFA02FBB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14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可以追查地點、污染物與時間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BAF98-42D7-434A-B664-AC3C1C8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目標：把觀測值轉成可核對的解讀</a:t>
            </a:r>
          </a:p>
        </p:txBody>
      </p:sp>
    </p:spTree>
    <p:extLst>
      <p:ext uri="{BB962C8B-B14F-4D97-AF65-F5344CB8AC3E}">
        <p14:creationId xmlns:p14="http://schemas.microsoft.com/office/powerpoint/2010/main" val="2114728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533B9-CFF2-469D-BDC4-4C1AA5F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3F969-3B21-479E-AE83-8A26E9DB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問題定義｜讓空品回答可核對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C6CF1-E42E-471F-8BEC-BD99902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聚焦地點、時間、污染物與證據來源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0D214-EECF-471A-922D-C2032D58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B0B7-D4D0-4BE2-A5A7-DAE7C4BC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B7A29-51CC-4552-8C30-6E7B2F26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DCABD-C5B5-47E7-B650-A1888A75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44380-98C4-4C3B-AF15-0E9FA39C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給定一個地點與時間範圍，系統如何把公開監測值轉成可理解、可追溯的說明？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EBAFD-BB78-42D6-A020-9225C8C1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2FD13-42B8-4AFF-B271-B8BBF63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A0C3E-0A36-4081-9DBB-B3D8334A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02008-126C-4520-9856-143AEC5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可能概括了多種污染物；單一數值未必說明變化原因。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62095-EB05-4038-A491-577905B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4E3FA-3209-4009-832F-9CD70A7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ECF46-7262-4109-933A-C795FE8F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8CA2-777D-4132-8D28-1A1D3CC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測站資料有時間差、缺漏與地理差異，需要對齊後才適合比較。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D34DE-E438-4D14-8CC0-37E489B8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3AFCD-E2CA-41C6-9BD6-E71D0AD4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BF82F-B7B0-4EDB-94A3-02150F5C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表達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4B0E2-25AF-4282-AFF2-87467225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回答必須區分觀測事實、分析推論與資料不足之處。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CE8B4-7FCE-46DB-B976-01FF8E0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目標使用者：需要快速理解台灣特定地區空品變化的一般使用者與課堂評估者</a:t>
            </a:r>
          </a:p>
        </p:txBody>
      </p:sp>
    </p:spTree>
    <p:extLst>
      <p:ext uri="{BB962C8B-B14F-4D97-AF65-F5344CB8AC3E}">
        <p14:creationId xmlns:p14="http://schemas.microsoft.com/office/powerpoint/2010/main" val="296779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91EEB-13F3-4944-803A-8D6719B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6E9A9-2728-4A94-B5F4-02AE77F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資料基礎｜已完成第一輪資料清理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8B6B9-B573-43C3-80FF-7469202E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AQX_P_488 歷史逐時資料｜目前下載範圍為 2026-01-01 至 2026-10-29 16:00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C832F-2E29-4D8C-9601-9D63F68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C6546-39DE-402E-A7D4-17CA394F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2E485-7567-433A-B030-8C0D484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A6F0B-9623-4BB5-B91B-C48B459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3190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AB64C-E71B-4BAB-8564-FD76470D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2F7ED-A6B0-4611-800F-D32D56A1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原始下載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18300-DDAD-495D-8B77-A072678C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970,296 列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10 個 CSV 檔案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88 個測站編號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5EB8F-73DE-4B4B-BC4C-F6424D7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190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EFC57-E296-4F0E-9BD7-C7BF4FC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50DFF-409E-4045-A1FF-4A43C7D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5737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清理後資料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F6C7E-BE52-44E9-B1AC-B06F1572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5742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606,137 列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合併 364,145 個重複鍵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恢復 4 個可唯一辨認的站號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4CD22-6C93-4E7E-8C89-932D558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190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E1FC4-F337-4E30-8B49-1156187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88F67-F8B3-4107-901A-B1CFC12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5737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品質處理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DEC50-37E5-47CD-B50C-63078A82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隔離 13 組衝突鍵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衝突原始列 26 列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無法辨認站號列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13386-2D5C-427C-BE7B-F05BE4C9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052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範圍限制：這是部分年度下載資料，尚未證明各站各時段皆完整；數字不代表全年或完整季節結論。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35761-45FD-4A57-8684-F05A1559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鍵值使用 SiteId + DataCreationDate；測站名稱僅作顯示，不作跨檔案合併鍵。</a:t>
            </a:r>
          </a:p>
        </p:txBody>
      </p:sp>
    </p:spTree>
    <p:extLst>
      <p:ext uri="{BB962C8B-B14F-4D97-AF65-F5344CB8AC3E}">
        <p14:creationId xmlns:p14="http://schemas.microsoft.com/office/powerpoint/2010/main" val="1494290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728FD-0751-4E80-B4C8-B4F2974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D4E77-12C8-4E88-B360-AAD75E5C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相關研究｜方法之外，也要理解量測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3A554-A1A7-429D-AC60-79CB8FC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AI 技術與空品領域知識各占一半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AC7D8-E837-4502-84DB-4BD440D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29DD0-49EA-481B-BAC8-4EAFC534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F1837-6874-4C65-94BC-C63C547A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59DCE-4625-4874-AF8A-B0216EB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AI／資料分析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79E3B-1904-43C3-B806-4292E85C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Neuro-Air（2026）：多代理空品分析，香港與河北，317 題評測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2025 異常偵測：向量檢索、鄰站 DTW/Z-score、LLM 說明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2025 AQI 預測：Random Forest + ARIMA 殘差、SHAP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56D93-F285-4822-9662-B7D441A0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9050" cy="3714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C60CF-AB90-405C-AFA8-E459915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領域知識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73E65-B270-4B27-9D38-3F07501B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台灣 PM₂.₅ 預測與區域氣象差異（Lee et al., 2020）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AirBox 空間校正與低成本感測器驗證（2023–2025）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濕度、部署時間和測站代表性會影響解讀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66CAC-CE5F-43C0-BC44-C72FAFF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74BC3-0D39-44C1-B39E-3C6A22B6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文獻定位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51FD0-2448-47EF-9F23-2E7BF16F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已有空品多代理與時間序列 LLM 研究，因此本專題不宣稱首創 Agent；聚焦於台灣 AQX_P_488 問答中的數值正確性、來源回連和資料不足時的處理。</a:t>
            </a:r>
          </a:p>
        </p:txBody>
      </p:sp>
    </p:spTree>
    <p:extLst>
      <p:ext uri="{BB962C8B-B14F-4D97-AF65-F5344CB8AC3E}">
        <p14:creationId xmlns:p14="http://schemas.microsoft.com/office/powerpoint/2010/main" val="1965404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4B597-0A18-4798-BBB7-2464846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2553A-678F-4DA0-8A80-7947337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研究缺口｜把數值分析與回答責任接起來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4472B-45CF-4CAD-8440-01F37354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本提案的缺口仍是待文獻系統性確認的研究假設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3BC8E-1CC2-4228-92C4-A965A74A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7B40E-0417-4B10-9182-FE977963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41869-D21F-471B-97B6-836544A0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FD4AE-DC57-493D-9E66-758B8D2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現有能力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18165-CCCD-4643-977C-141D9B65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官方測站資料與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感測網路各自提供觀測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E4AB6-157D-4A1C-9014-DF12D3F9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793F4-1035-470E-846D-B8FDEA3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尚待處理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B79E9-ECD7-4F94-967D-B175219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資料品質、時間差、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污染物脈絡需一併呈現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FDDA6-137C-433C-BB5B-D74D2A55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BC63D-23A7-4D37-9048-17A64C1C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本專題補足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C752E-F7A7-482F-83E8-4BD6BD70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對每項結論附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測站、時間與數值證據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79FB1-2782-48EC-966D-BB04AD7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281B4-5759-4F40-A010-CFE9D60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如何驗證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7DF2B-0DEB-4CBD-AC86-2B2F0796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人工核對來源與數值；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比較透明的簡單基準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BAE0C-6CBB-461F-BCF5-BA86DCA5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329B6-0156-44DA-A3D5-18ED7B82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Research gap（暫定）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CD2C0-49CF-4693-A6C5-E5DCB125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缺少一套針對台灣公開空品資料、同時呈現來源可追溯性、時間/站點脈絡與不確定性，並用明確基準評估的互動式解讀流程。</a:t>
            </a:r>
          </a:p>
        </p:txBody>
      </p:sp>
    </p:spTree>
    <p:extLst>
      <p:ext uri="{BB962C8B-B14F-4D97-AF65-F5344CB8AC3E}">
        <p14:creationId xmlns:p14="http://schemas.microsoft.com/office/powerpoint/2010/main" val="1599559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AFC042-71B0-4EC1-B961-6EA09ED4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B3183-B36F-496A-9ED3-08B9AF4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設計｜問題拆解後才選工具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9FC8C-A8E6-4F7E-B1FE-9849206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生成式模型負責理解與表達；數值由資料工具計算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98B98-B341-40B5-8D6F-D766C1D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A9627-DEC3-4DF6-9537-FB1F6AE5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18C5F-3C12-4616-B295-5475D9FB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66767-D4FD-4D65-A6A9-F9D8D4A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7C563-FAAE-4650-AE63-5F54D8FE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01F65-B26E-421E-98D4-6A03126A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判斷意圖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8AADC-859D-4AB0-9C4F-35BC312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比較 / 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0029-B2CD-48BE-9B43-9F682D20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15220-459F-433E-80C8-7921CDCB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4FE5D-303A-467B-93AB-3ADA893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A158-07F3-4F1A-BF76-82596932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5EB48-79B6-40F4-93F2-BCB904AB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測站、時間窗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09436-FF36-4AF5-B701-4846761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40880-7CE2-486B-8617-B494DF5B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D3195-B37A-48BB-BFC5-634D55E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7CBC5-D0FA-4D9E-BFC1-1D5C81A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檢查品質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614F3-2ADC-4B37-90E0-6E59BE0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缺漏、延遲、單位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044CD-0E1C-4C7B-90F5-F88C32A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3F672-C3E6-4833-87EF-606ECF05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7B121-131D-404A-AF72-9925C110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061A3-F9AD-4D70-9671-C6BD1F2B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CA32F-5E96-4332-8569-5B41214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變化、基準、差異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F1321-86CF-4E86-88E2-59274A0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44546-7DBE-4E43-A621-2417B0A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E7E52-A86B-4559-A443-95B0B865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50487-68C7-4CC6-B46E-8FE6111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組合證據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0BB8DC-99CD-46AC-AA08-BFCE074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污染物 + 領域規則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C9706-4498-498C-8ED0-D49A1FCE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41E1D-A011-4303-936F-E0DC7460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78AF19-EE48-4341-A3C2-C8E2FA4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ABA7E7-A9A3-45B9-A97D-3F44F1F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回答核對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0130B5-C349-4D25-BC0D-091F6870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來源、限制、不確定性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04F2F-ED51-4FFD-B1DE-51CA5892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0610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DFDB3B-AFF9-42DB-8466-4F625FE4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安全邊界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3E1BEF-6CBF-4B1D-8CBC-26A6369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不推定污染來源、不診斷個人健康、不輸出沒有來源記錄支撐的數值。</a:t>
            </a:r>
          </a:p>
        </p:txBody>
      </p:sp>
    </p:spTree>
    <p:extLst>
      <p:ext uri="{BB962C8B-B14F-4D97-AF65-F5344CB8AC3E}">
        <p14:creationId xmlns:p14="http://schemas.microsoft.com/office/powerpoint/2010/main" val="1546195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A8975F-D218-46FB-9177-70A80A33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D958F-2A99-481D-95DB-122BB32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System Architecture｜資料、分析與領域規則分層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2DFE7-C31A-42F4-A391-0F3B9704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方塊代表可實作模組；IoT 來源為條件式擴充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8D3ED-D938-4CC9-AF46-4806B303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ADB80-7E63-44AF-8343-6BE8DE5C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736C7-B22D-4D1B-BDF1-CE5826AA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31CAB-B555-4001-B5B2-FF2F081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52531-A1B0-480D-8A7A-18362D88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① 使用者</a:t>
            </a:r>
          </a:p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63D64-FC74-41EB-85A4-A8E33CF6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地點 / 時段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70DF8-A758-4303-B2AC-FEB4AC6E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C55D0-57C7-4CB8-85F3-18EF597B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874F3-328A-4311-8767-376E07CC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②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EE12E-116A-4F8D-BD18-7CA7594D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意圖 / 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72484-31FE-44D5-B355-4963B004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1AE4E-114E-4BA1-8F61-9F7DC6D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28797-A63D-4741-AE11-A917166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③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3CBF1-7FF5-498C-B237-10EA2047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官方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B2E07-0E10-4954-852D-79ABCFED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22899-8165-4E4B-9CE2-3DE0A22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66253-4CAD-4EA4-B014-133BCBE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④ Data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B877F-0B47-4EB6-92F9-6FE2AAD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對齊 / 品質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E93E9-BC1E-4F6F-8814-93F2C18B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DC963-AF04-4F21-86B1-1C9C1CF1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38D40-BBDE-4FAC-8F69-DBA77331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⑤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EF810-FA4B-44C1-ADBE-457AE19B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0A7D2-282B-4EB4-9FE8-7EB28548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2432A-6B0E-4D2B-8B9F-48718B60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8DB8E8-02CB-4D54-9235-C4CE4D21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⑥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4C6DC-2357-4802-8692-B3259B7C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/ 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B7E2E-54F4-44A3-86DF-E17C534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7034A-69BA-4E8D-9CD7-BFE74102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D451B4-4382-44FD-AD79-2C23ED4C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⑦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3600D-BCEE-48E0-AC31-68A7972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來源核對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532C2-13B5-4E3C-8BBD-049F4202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F5C60-3FDF-42E4-A1E5-1DC25D51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4B8B4C-C601-43BB-9010-4BBD564A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⑧ 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948CB2-EA68-4DBD-92B4-F5884D29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解釋 / 限制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CA8C59-E43C-4975-85A7-03A9B0D1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9575"/>
            <a:ext cx="3000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6348CB-C24B-4EE3-B628-B103CC2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rPr>
              <a:t>MOENV AQX_P_488｜歷史資料主來源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A6B04E-5B72-4C92-9FC6-747AB36D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3429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DD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F6457F-ED1C-4411-B98C-4CC9FB76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Civil IoT 感測資料｜可選擴充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E3A7BF-0D68-4B79-98CD-E6EF1AB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359FF0-6BAE-4704-8E30-6998520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4B6AC3-4C24-48F1-9570-E248F047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回答必須可回連至測站、發布時間、欄位與原始來源。</a:t>
            </a:r>
          </a:p>
        </p:txBody>
      </p:sp>
    </p:spTree>
    <p:extLst>
      <p:ext uri="{BB962C8B-B14F-4D97-AF65-F5344CB8AC3E}">
        <p14:creationId xmlns:p14="http://schemas.microsoft.com/office/powerpoint/2010/main" val="1133703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E2815-5E1C-437C-B78B-7DA57628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28E4C-8AAE-485D-B8FC-26630B96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Flowchart｜資料不足時明確回報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6E59A-5EC8-47AF-94C2-3505484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以例外路徑避免把缺漏資料包裝成確定答案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BDCE7-AE8B-44E1-8FC9-F94E8780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A5071-7951-4E3A-BD93-DD9BB050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F3FCC-7319-432A-9CAD-E6D96FE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D16D5-EE37-4A64-B80C-F607D1D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7A71-1A25-4160-BE7A-92282A75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收到問題 → 解析地點與時間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73981-AEAB-4CDC-A62C-0F0508B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C5D06-A954-4863-9076-EDD8FCD3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D8EAE-0349-4F3A-87E7-C41AB49C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907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取回對應測站紀錄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2421-C042-4428-8ECE-EB3BB6B9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90236-F9FB-4A67-B566-BC719FCF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00F50-AB14-46CD-A0B6-7C8AF7F1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檢查新鮮度、缺漏與時間連續性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4A50C-6FE2-4D2F-AE1A-EBD46D1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25D5B-1EBE-4DB1-9735-896315DB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0C922-DDE8-4C2F-A07A-1122BA6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執行趨勢 / 事件 / 站點比較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D7ADA-B7D4-486C-B4E7-23CED24C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6DF85-8032-4989-BEFD-6898725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148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6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68349-2D2A-4635-85ED-03A6786A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附證據與限制產生回答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2A996-2CA9-4D0B-87BF-9757F15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428750" cy="904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E4D9"/>
          </a:solidFill>
          <a:ln xmlns:a="http://schemas.openxmlformats.org/drawingml/2006/main" w="9525">
            <a:solidFill>
              <a:srgbClr val="E48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4565C-058F-4557-86C5-3CF17F1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資料足夠？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FC5E4-849E-47CC-A2B8-0306BDD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742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EC904-8249-4020-B756-21DA9D1C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1A403-E247-468D-B421-DC10911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90950"/>
            <a:ext cx="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64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B4A1A-1634-4322-A55F-43868143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A726E-4FE0-46B5-A9F0-2916CED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571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A64B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78C39-C2D6-4604-8E1E-FEB1F7CB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577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回報資料缺口</a:t>
            </a:r>
          </a:p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與最後更新時間</a:t>
            </a:r>
          </a:p>
        </p:txBody>
      </p:sp>
    </p:spTree>
    <p:extLst>
      <p:ext uri="{BB962C8B-B14F-4D97-AF65-F5344CB8AC3E}">
        <p14:creationId xmlns:p14="http://schemas.microsoft.com/office/powerpoint/2010/main" val="133861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C4285-8D46-497D-8FC1-4CA3219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D0186-51FA-4119-BBD8-9F4D74F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核心演算法｜每項結論都保留來源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2008F-F6D3-4560-A1FC-4A4F3702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數值分析由工具執行，LLM 不直接編造監測數值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5168E-515E-42A9-A1BD-9661CCB7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25DAE-8B3F-4690-82DA-EB4C50DA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72A40-4B38-4FF8-990E-85F47008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F1B9E-7D8C-44A1-A091-4A375FC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01  intent, place, period, pollutant ← parse(question)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5778D-947C-4D46-91AC-C15AD0F8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02  stations ← select_supported_stations(place)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3080B-8EC3-48FB-AE5F-BAC4C8B2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03  records ← retrieve(stations, period)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5B90C-C8E3-4653-87A1-B32D26A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04  if records empty: return source_status_and_gap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D78AE-1F44-45FE-AFFC-2F622ACA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05  records ← normalize_units_and_timestamps(records)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9F3FC-D5E3-4244-96DD-5F8B0C10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06  quality ← check_missingness_duplicates_freshness(records)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B1F68-A92D-45EF-93DD-84819FF2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  if evidence insufficient: return limitation_response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6A2B7-33A1-433F-9CED-EDBF974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08  result ← analyze_trend_event_or_station_difference(records)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E1F01-E9D5-4BBA-913B-ADBD7B9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09  result ← compare_with_simple_baseline_if_needed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B302D-0FEF-4E73-A172-E184938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10  claims ← apply_domain_rules_and_attach_provenance(result)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BA63C-4137-4696-A889-9D8217B0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11  claims ← remove_or_qualify_unsupported_claims(claims)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941F2-FB1E-4B28-84D1-F83B35EB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  return answer(values, timestamps, sources, uncertainty)</a:t>
            </a:r>
          </a:p>
        </p:txBody>
      </p:sp>
    </p:spTree>
    <p:extLst>
      <p:ext uri="{BB962C8B-B14F-4D97-AF65-F5344CB8AC3E}">
        <p14:creationId xmlns:p14="http://schemas.microsoft.com/office/powerpoint/2010/main" val="10079203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66AC25-281C-4D90-928C-13D6EFF2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C9B80-99A5-439E-9B25-F9F287E9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評估面向｜數值、來源與限制處理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9DADC-7AC2-4CB0-9E76-7A08392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指標與題庫設計見第 16 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51B3A-A7E2-4EA0-B3EC-4B9A4B03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5285-FB33-4D70-A49F-4489D03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CAF7C-7691-4F04-A7F1-FF1749A9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E1C32-EDEC-4987-8595-D120C8F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4E2D8-279B-4091-9DFC-2F9040E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70F5E-8287-47FE-9D9B-3934AA3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數值正確性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0ED02-FB09-4D15-9086-BF1761F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AQI、污染物、趨勢方向、變化量和測站排序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A2E27-0BBD-4561-A080-7C02FC39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3D9C2-34D2-4E78-9AF8-0BC58D2D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C57C7-2A1C-45A7-A867-3E40F5D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證據忠實度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C3644-8144-491B-98AA-426CA79A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測站、時間、數值與來源紀錄是否逐項對應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B9647-A9EA-41B8-A921-3767AED1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A9EC2-34CE-48FA-A39E-5FEBBFF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C4F1E-2A01-4400-9BB6-F64DF64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限制處理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9554C-58D5-4FCB-9716-65E11D0F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資料不足、衝突或越界問題是否正確說明或拒答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7BDF6-B5CC-4B81-8B87-14C87A9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壓力案例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ED66A-BEB2-43BB-A485-CDBCE07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6CA50-C1CF-4E08-B0BF-25DD93B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資料陳舊或中斷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D591A-8E7F-46DE-A573-141BFDD0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C96BD-6230-4EC0-BAC3-223AD65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測站值衝突或時間不完整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D983D-AE2E-4854-A621-F1656630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FE5E0-A69A-4F26-8D3D-AAAC6A2D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詢問污染來源因果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37E61-3A09-42D8-A042-E045027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6B9A5-EF6D-49CB-B3FE-A6A3D222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要求個人醫療或暴露診斷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2A6F9-97EC-42B5-9F8D-6B13BE7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Agent 尚未實作；所有指標均為預定評估，不是已取得的結果。</a:t>
            </a:r>
          </a:p>
        </p:txBody>
      </p:sp>
    </p:spTree>
    <p:extLst>
      <p:ext uri="{BB962C8B-B14F-4D97-AF65-F5344CB8AC3E}">
        <p14:creationId xmlns:p14="http://schemas.microsoft.com/office/powerpoint/2010/main" val="1711953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F25E1-4EA4-462D-985D-4C3015A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799D-425D-4CDD-BBD2-DBFAC8E8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預期成果與後續工作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1FA25-811C-4C33-8CE8-DD2CDE93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Proposal 階段提出研究設計；模型實驗與系統實作尚待執行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1E5AB-4688-4924-A359-7B7C365D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8A56-E69F-4831-BDA0-E63BD5ED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FB738-3451-4CE2-BBAC-1FA0CBF6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8A098-B35D-4720-9C48-446DBB37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預期成果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C4EA-8101-4F7B-A014-B4DC4B3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B9FE8-81FA-494C-A1AC-2C21240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1455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可重現的 AQX_P_488 資料整理流程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90763-5967-4A45-BEE4-0055ACF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04B26-E678-4265-AD35-00D944E5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95575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附測站、時間與數值來源的 Agent 原型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1FE47-2906-4F4B-B054-259C009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270F9-7766-4438-9BA0-33AC5980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問答正確性與證據忠實度評估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1FE97-E041-4BC9-8C4A-E0C8794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後續工作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955CF-8B24-4EAE-A0CA-81FE17A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808DD-DB00-4FC3-9963-F2C4B89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檢查候選測站的資料連續性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6446F-D85B-4557-823D-B83E137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3ABF9-49C7-4FB6-922C-20C60E6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建立固定查詢與 60 題測試集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7AC05-B468-4015-8AD8-E36A589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36BA3-EA05-42EA-B366-2BB9C8CB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實作基準方法並比較 Agent 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69E47-95D4-4B91-BFB9-2BF407A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620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E6699-E8EE-4E7C-B956-B2BEB95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主要來源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53024-C7B7-4045-849B-99688AB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環境部 AQX_P_488｜歷史逐時 AQI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環境部 AQI 定義｜空品指標與平均時間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WHO (2025)｜空污暴露與健康證據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完整研究文獻與網址見 References</a:t>
            </a:r>
          </a:p>
        </p:txBody>
      </p:sp>
    </p:spTree>
    <p:extLst>
      <p:ext uri="{BB962C8B-B14F-4D97-AF65-F5344CB8AC3E}">
        <p14:creationId xmlns:p14="http://schemas.microsoft.com/office/powerpoint/2010/main" val="5213072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2F894-975A-4279-9247-969ABC6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65715-27EF-4FD1-BECB-463D6C7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Deep Research｜五個核心思維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64C95-61E5-471B-A36C-157C3F5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這些領域判斷限制了 Agent 能合理回答的問題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95842-E281-4145-9D1F-6D5C754C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5B407-5FCC-4975-B614-9C9FA95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86A5B-055E-4B93-994D-17BA58B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FF90-6866-4419-BB53-C4493F5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D6B34-CE39-45FF-AD0D-F03C083F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447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AQI 是摘要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901DC-0CC8-437C-9DD9-B2FFC58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478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 取污染物副指標最大值；須保留主要污染物與平均時間。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72DBF-48F2-4E01-84B3-894271B3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A1ED1-9FFE-46ED-9F0F-A877480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測站不等於個人暴露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5751C-C23B-4C5B-8C67-47B77BAF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站點讀值不直接代表個人所在微環境或吸入劑量。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6FD5D-65E8-4775-9F5A-C42249EB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878C1-D1CA-4605-BEB8-F4F2DE0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量測品質界定答案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58598-9E3B-40C9-B7C9-684120A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缺值、延遲、衝突和感測器偏差須先處理。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4D222-5EF1-4980-A8E3-D9FFD94F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D4859-7E88-4E7E-8671-A39E4131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33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比較前先對齊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F2EFD-B803-4EF9-95C5-6D576446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338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站點、時間窗、單位和平均尺度一致才可比較。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8B713-394C-4C4C-80E7-2352E3A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C06C2-0F20-44CD-8FD9-CBDCA5F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29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相關不等於因果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F4105-0DED-4A33-8F58-34501433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292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時空共變不能單獨證明污染來源或健康影響。</a:t>
            </a:r>
          </a:p>
        </p:txBody>
      </p:sp>
    </p:spTree>
    <p:extLst>
      <p:ext uri="{BB962C8B-B14F-4D97-AF65-F5344CB8AC3E}">
        <p14:creationId xmlns:p14="http://schemas.microsoft.com/office/powerpoint/2010/main" val="1841748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FFD67-6A9F-469E-AA36-F1B3B5A4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66EB5-4780-485A-B90C-4FBCF5A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Deep Research｜三個專業爭論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E77D1-F275-4914-BD01-2DCB1D3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每個爭論都會改變本專題的資料、模型或回答設計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DFCA4-78B8-4FB9-8C94-89C332D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12F63-1B7F-4FE5-AE84-90128E0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12156-1898-4188-B1D7-83F098B9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44A69-9762-4D78-83A9-3C009021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低成本感測器能取代參考站？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A667-F2D3-4FE8-9046-9FC4143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支持：密集、即時、在地；限制：濕度、漂移、部署環境影響校正。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763C0-E628-4015-BE4E-72BE9D38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暫定共識：互補監測，校正與代表性驗證不可省略。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84D2-1CB2-4B3C-8899-9E47A22B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複雜模型一定優於簡單模型？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03F03-B8DE-41AD-A30A-A130994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支持：可捕捉非線性；反證：驗證資料可能無改善甚至過度擬合。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6C022-EC44-4A01-BF02-6E0D6FAC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暫定共識：按部署情境做獨立驗證，保留簡單基準。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CA752-7282-416C-9B65-52769603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LLM 自由推理還是工具計算？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41533-7871-4E0E-89FD-1F98490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自由生成較靈活；數值工具較可重現，但工具也可能查錯資料或誤解問題。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C8C9D-9814-4FBE-82C6-D1644522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本專題選擇受限工具 Agent，並評估來源和拒答品質。</a:t>
            </a:r>
          </a:p>
        </p:txBody>
      </p:sp>
    </p:spTree>
    <p:extLst>
      <p:ext uri="{BB962C8B-B14F-4D97-AF65-F5344CB8AC3E}">
        <p14:creationId xmlns:p14="http://schemas.microsoft.com/office/powerpoint/2010/main" val="1931556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CF414-5A4C-4E4C-8A36-B9AD62D3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506B3-AF84-4330-9B9A-E2DDAAF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Deep Research｜十個待回答問題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5051B-C637-41D4-8371-9BDCCD72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用問題檢查研究設計是否能被證據支持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5A5AB-4044-45ED-8FB8-09020DD6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CF94C-11FA-460D-B4C7-D417FC99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6126D-22DC-45B5-ADE6-96278B6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CC9DC-5A07-400F-91C1-7F79D22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AD87E-D381-40F9-8E4D-3C085C63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38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 和主要污染物如何一起解讀？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8B02C-6BC6-451F-A418-686D1C1F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482EC-6D74-4A42-B06C-1E9B0DC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669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發布時間與觀測時間如何區分？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0084B-333C-469F-80AA-80036154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DD368-6583-474B-96D8-90B360D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測站缺值如何影響趨勢結論？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C2DE5-50F8-4117-97AC-65339018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E1FEC-0535-42AF-B94B-C0BF711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2432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測站比較需要哪些空間與時間條件？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727CC-E09B-4136-8ED8-6833C24B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9F07F-2271-485E-8FD0-BFC7F59E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何種規則能定義污染事件？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5A497-49AB-4A6E-BD4E-69B719D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ECBBF-054F-4C30-A838-FFE67E0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鄰站一致性何時是有效證據？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254D7-1D6E-4713-B4DD-C7C7BE67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66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0F589-D8C0-4227-8F24-EBB5805C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LLM-only 會產生哪些數值錯誤？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6DF82-F5F0-442A-A571-7B9667E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B9D44-AC04-46C8-A954-0DAB9072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來源引用要細到哪個紀錄欄位？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170B9-110C-4AE5-90D6-6116E35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271D6-1D22-4A99-9D85-CB473F4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何時應追問、限制回答或拒答？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7C0D7-CA3A-4CB2-989A-12C78062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0714D5-D0A9-4B82-8F4E-5E301D78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60 題如何避免只測簡單問題？</a:t>
            </a:r>
          </a:p>
        </p:txBody>
      </p:sp>
    </p:spTree>
    <p:extLst>
      <p:ext uri="{BB962C8B-B14F-4D97-AF65-F5344CB8AC3E}">
        <p14:creationId xmlns:p14="http://schemas.microsoft.com/office/powerpoint/2010/main" val="9868184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2E575-F9D8-4472-9C2B-3085CED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BD044-1A63-4D5D-A3E2-670C9D6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評估設計｜60 題與三種基準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3AD80-625F-404E-B8CE-523EAD33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Proposal 規劃，不代表已完成 Agent 實驗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FE984-6788-44AE-ABF0-6A12F47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2BF3-E523-4C60-9A77-A0F8DC71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0913B-1A16-4B8A-BCD7-6663450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B5119-7063-4B11-9D8B-1D7ACB8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C284F-4FB5-4650-8E06-70E0BF0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4F231-8864-423B-AC50-3C7F12F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題庫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160BB-0DD9-4E10-BF1C-B6E1D655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45 題可回答：趨勢、測站比較、AQI／污染物各 15 題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15 題不足、衝突、因果或醫療越界情境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89CF4-2496-4E89-AD5C-66D7F24A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14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8ED68-4396-4F7F-9382-375D966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3F65A-4328-40CD-A9D8-65722C8F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比較條件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FFEBE-53D7-498E-9DB0-7B32AFB5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02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LLM-only 直接回答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確定性工具輸出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工具型 Agent（本提案）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FF072-E94B-47C9-8DB1-7EE91907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主要指標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64D8D-B750-4EB7-B6DF-D06E8AFB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836A3-2DBD-461E-8986-4CF17F7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數值正確率：依題型與精度設定容許誤差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4FC5A-2A9B-4F05-BB05-EA7C895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5F472-EF68-488F-86CB-D3DD97A0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證據忠實度：測站、時間、數值與來源對應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19E3C-9B06-4FBB-95B9-10FF708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27395-4842-4872-B05A-C2450CA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限制處理：資料不足、衝突或超範圍情境是否正確處理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2825F-8E46-4E41-AF9C-381AA20D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固定查詢與程式計算產生參考答案，再人工抽查；錯誤分析涵蓋缺值、日期邊界、站名差異和衝突記錄。</a:t>
            </a:r>
          </a:p>
        </p:txBody>
      </p:sp>
    </p:spTree>
    <p:extLst>
      <p:ext uri="{BB962C8B-B14F-4D97-AF65-F5344CB8AC3E}">
        <p14:creationId xmlns:p14="http://schemas.microsoft.com/office/powerpoint/2010/main" val="12046727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9C695-0C57-454E-B11E-76419C1C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1A93B-8AF2-4A67-955C-1972AD9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主要參考文獻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FED6E-E232-4128-9657-AE9A490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完整書目與逐項 DOI 見提案文件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A0334-F1DE-4C79-9DB0-B100B374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21BC2-A7A6-4C95-8B59-3D2FF58D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D00BC-9F89-4C1C-A6A7-2FB555DE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C4590-799D-401E-A811-41B14B6B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AE102-6E44-4E34-9282-B7812200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382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Ma et al. (2026). Multi-agent AI for end-to-end air quality analysis and decision support. npj Clean Air 2, 59. doi:10.1038/s44407-026-00102-4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541AA-2878-413C-89CB-777814D4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5206A-94C4-4750-8CCB-6A2BB0E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621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Anomaly Detection Using Generative Language Models and Deep Feature-Based Time Series Similarity (2025). IEEE Access 13, 157147–157159. doi:10.1109/ACCESS.2025.3604216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3C878-CFF1-4E2F-8874-DEF5CEE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87B3-D171-4040-8FAD-C96A4D01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860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Yenkikar et al. (2025). Explainable forecasting of AQI using hybrid random forest and ARIMA. MethodsX 15, 103517. doi:10.1016/j.mex.2025.103517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C9D0F-EFFA-40AB-89ED-6E3CFF17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C9470-04F2-4403-A8C4-F5F19CD5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Lee et al. (2020). Forecasting Air Quality in Taiwan by Using Machine Learning. Scientific Reports 10, 4153. doi:10.1038/s41598-020-61151-7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C2C68-7202-4171-ADFB-D5C01571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6B7D3-FF08-48B5-AA92-84502E9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Tzeng et al. (2023). Spatially adaptive calibrations of AirBox PM2.5 data. Biometrics 79(4), 3637–3649. doi:10.1111/biom.13819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B45F7-7A15-423E-A476-C4491944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74EC5-0FA5-43EE-BC49-607D94F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MOENV AQX_P_488 historical hourly AQI dataset; Taiwan AQI definition; WHO air-quality evidence and guidelines.</a:t>
            </a:r>
          </a:p>
        </p:txBody>
      </p:sp>
    </p:spTree>
    <p:extLst>
      <p:ext uri="{BB962C8B-B14F-4D97-AF65-F5344CB8AC3E}">
        <p14:creationId xmlns:p14="http://schemas.microsoft.com/office/powerpoint/2010/main" val="664089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2026-10-29T09:13:24.9240000Z</dcterms:created>
  <dcterms:modified xsi:type="dcterms:W3CDTF">2026-10-29T09:13:24.9240000Z</dcterms:modified>
</coreProperties>
</file>