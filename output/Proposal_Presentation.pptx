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cc6c7d9ed14f1f" /><Relationship Type="http://schemas.openxmlformats.org/officeDocument/2006/relationships/extended-properties" Target="/docProps/app.xml" Id="R675b890aab6a46d8" /><Relationship Type="http://schemas.openxmlformats.org/officeDocument/2006/relationships/officeDocument" Target="/ppt/presentation.xml" Id="Re8de3b30051b48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7333af0dbb4936"/>
  </p:sldMasterIdLst>
  <p:notesMasterIdLst>
    <p:notesMasterId xmlns:r="http://schemas.openxmlformats.org/officeDocument/2006/relationships" r:id="R0456e0edffbb4c8a"/>
  </p:notesMasterIdLst>
  <p:sldIdLst>
    <p:sldId xmlns:r="http://schemas.openxmlformats.org/officeDocument/2006/relationships" id="256" r:id="R5c466bae7977460d"/>
    <p:sldId xmlns:r="http://schemas.openxmlformats.org/officeDocument/2006/relationships" id="257" r:id="R90c5af3ef6d84257"/>
    <p:sldId xmlns:r="http://schemas.openxmlformats.org/officeDocument/2006/relationships" id="258" r:id="R5fd5d32206524ea9"/>
    <p:sldId xmlns:r="http://schemas.openxmlformats.org/officeDocument/2006/relationships" id="259" r:id="R195ae7ef11274762"/>
    <p:sldId xmlns:r="http://schemas.openxmlformats.org/officeDocument/2006/relationships" id="260" r:id="R39c4520e86f649c0"/>
    <p:sldId xmlns:r="http://schemas.openxmlformats.org/officeDocument/2006/relationships" id="261" r:id="Rf66824dbf28646f4"/>
    <p:sldId xmlns:r="http://schemas.openxmlformats.org/officeDocument/2006/relationships" id="262" r:id="Rcd9f557cb2fa4a17"/>
    <p:sldId xmlns:r="http://schemas.openxmlformats.org/officeDocument/2006/relationships" id="263" r:id="R18742977ad4647a9"/>
    <p:sldId xmlns:r="http://schemas.openxmlformats.org/officeDocument/2006/relationships" id="264" r:id="Rfd8bdfa0543444c6"/>
    <p:sldId xmlns:r="http://schemas.openxmlformats.org/officeDocument/2006/relationships" id="265" r:id="R95fe68b6a14a496f"/>
    <p:sldId xmlns:r="http://schemas.openxmlformats.org/officeDocument/2006/relationships" id="266" r:id="Rbbe5b80a7fac4e95"/>
    <p:sldId xmlns:r="http://schemas.openxmlformats.org/officeDocument/2006/relationships" id="267" r:id="Ra4a90554057b461f"/>
    <p:sldId xmlns:r="http://schemas.openxmlformats.org/officeDocument/2006/relationships" id="268" r:id="R5a0063d9731547dd"/>
    <p:sldId xmlns:r="http://schemas.openxmlformats.org/officeDocument/2006/relationships" id="269" r:id="R76e7f3964fcb4c21"/>
    <p:sldId xmlns:r="http://schemas.openxmlformats.org/officeDocument/2006/relationships" id="270" r:id="R45688e6d698649e6"/>
    <p:sldId xmlns:r="http://schemas.openxmlformats.org/officeDocument/2006/relationships" id="271" r:id="R304020895da84084"/>
    <p:sldId xmlns:r="http://schemas.openxmlformats.org/officeDocument/2006/relationships" id="272" r:id="R8f81e8b3805f4f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2f9b5c72994ce6" /><Relationship Type="http://schemas.openxmlformats.org/officeDocument/2006/relationships/slideMaster" Target="/ppt/slideMasters/slideMaster1.xml" Id="Ra47333af0dbb4936" /><Relationship Type="http://schemas.openxmlformats.org/officeDocument/2006/relationships/notesMaster" Target="/ppt/notesMasters/notesMaster1.xml" Id="R0456e0edffbb4c8a" /><Relationship Type="http://schemas.openxmlformats.org/officeDocument/2006/relationships/presProps" Target="/ppt/presProps.xml" Id="R399d4203d42843cf" /><Relationship Type="http://schemas.openxmlformats.org/officeDocument/2006/relationships/tableStyles" Target="/ppt/tableStyles.xml" Id="Rb73724edab2b4f0b" /><Relationship Type="http://schemas.openxmlformats.org/officeDocument/2006/relationships/slide" Target="/ppt/slides/slide1.xml" Id="R5c466bae7977460d" /><Relationship Type="http://schemas.openxmlformats.org/officeDocument/2006/relationships/slide" Target="/ppt/slides/slide2.xml" Id="R90c5af3ef6d84257" /><Relationship Type="http://schemas.openxmlformats.org/officeDocument/2006/relationships/slide" Target="/ppt/slides/slide3.xml" Id="R5fd5d32206524ea9" /><Relationship Type="http://schemas.openxmlformats.org/officeDocument/2006/relationships/slide" Target="/ppt/slides/slide4.xml" Id="R195ae7ef11274762" /><Relationship Type="http://schemas.openxmlformats.org/officeDocument/2006/relationships/slide" Target="/ppt/slides/slide5.xml" Id="R39c4520e86f649c0" /><Relationship Type="http://schemas.openxmlformats.org/officeDocument/2006/relationships/slide" Target="/ppt/slides/slide6.xml" Id="Rf66824dbf28646f4" /><Relationship Type="http://schemas.openxmlformats.org/officeDocument/2006/relationships/slide" Target="/ppt/slides/slide7.xml" Id="Rcd9f557cb2fa4a17" /><Relationship Type="http://schemas.openxmlformats.org/officeDocument/2006/relationships/slide" Target="/ppt/slides/slide8.xml" Id="R18742977ad4647a9" /><Relationship Type="http://schemas.openxmlformats.org/officeDocument/2006/relationships/slide" Target="/ppt/slides/slide9.xml" Id="Rfd8bdfa0543444c6" /><Relationship Type="http://schemas.openxmlformats.org/officeDocument/2006/relationships/slide" Target="/ppt/slides/slide10.xml" Id="R95fe68b6a14a496f" /><Relationship Type="http://schemas.openxmlformats.org/officeDocument/2006/relationships/slide" Target="/ppt/slides/slide11.xml" Id="Rbbe5b80a7fac4e95" /><Relationship Type="http://schemas.openxmlformats.org/officeDocument/2006/relationships/slide" Target="/ppt/slides/slide12.xml" Id="Ra4a90554057b461f" /><Relationship Type="http://schemas.openxmlformats.org/officeDocument/2006/relationships/slide" Target="/ppt/slides/slide13.xml" Id="R5a0063d9731547dd" /><Relationship Type="http://schemas.openxmlformats.org/officeDocument/2006/relationships/slide" Target="/ppt/slides/slide14.xml" Id="R76e7f3964fcb4c21" /><Relationship Type="http://schemas.openxmlformats.org/officeDocument/2006/relationships/slide" Target="/ppt/slides/slide15.xml" Id="R45688e6d698649e6" /><Relationship Type="http://schemas.openxmlformats.org/officeDocument/2006/relationships/slide" Target="/ppt/slides/slide16.xml" Id="R304020895da84084" /><Relationship Type="http://schemas.openxmlformats.org/officeDocument/2006/relationships/slide" Target="/ppt/slides/slide17.xml" Id="R8f81e8b3805f4f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c84e17ee340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9eaa7ada8b48c1" /><Relationship Type="http://schemas.openxmlformats.org/officeDocument/2006/relationships/notesMaster" Target="/ppt/notesMasters/notesMaster1.xml" Id="Rceab89dcfffa43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a40839d028452f" /><Relationship Type="http://schemas.openxmlformats.org/officeDocument/2006/relationships/notesMaster" Target="/ppt/notesMasters/notesMaster1.xml" Id="Rda1997b810124b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e65e487a004ec1" /><Relationship Type="http://schemas.openxmlformats.org/officeDocument/2006/relationships/notesMaster" Target="/ppt/notesMasters/notesMaster1.xml" Id="R014666c7d84345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9dc89b4f7e4a9d" /><Relationship Type="http://schemas.openxmlformats.org/officeDocument/2006/relationships/notesMaster" Target="/ppt/notesMasters/notesMaster1.xml" Id="R7f83aa4c45c641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c2d6ba6de8465b" /><Relationship Type="http://schemas.openxmlformats.org/officeDocument/2006/relationships/notesMaster" Target="/ppt/notesMasters/notesMaster1.xml" Id="R0e587cf4e2694e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ad0209988e4ede" /><Relationship Type="http://schemas.openxmlformats.org/officeDocument/2006/relationships/notesMaster" Target="/ppt/notesMasters/notesMaster1.xml" Id="R6aec1221498e49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8a90ddd09245b8" /><Relationship Type="http://schemas.openxmlformats.org/officeDocument/2006/relationships/notesMaster" Target="/ppt/notesMasters/notesMaster1.xml" Id="Ra145d1ae710d4b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d5db0b85e44aca" /><Relationship Type="http://schemas.openxmlformats.org/officeDocument/2006/relationships/notesMaster" Target="/ppt/notesMasters/notesMaster1.xml" Id="R1e671d5a7cc245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31edc6ef1e440b" /><Relationship Type="http://schemas.openxmlformats.org/officeDocument/2006/relationships/notesMaster" Target="/ppt/notesMasters/notesMaster1.xml" Id="R836a0b68a98140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edeafb49af45a5" /><Relationship Type="http://schemas.openxmlformats.org/officeDocument/2006/relationships/notesMaster" Target="/ppt/notesMasters/notesMaster1.xml" Id="Rab3f3ff3a06e49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efd79acc244fc6" /><Relationship Type="http://schemas.openxmlformats.org/officeDocument/2006/relationships/notesMaster" Target="/ppt/notesMasters/notesMaster1.xml" Id="R2dc1291e521545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7cfd0d899e4e18" /><Relationship Type="http://schemas.openxmlformats.org/officeDocument/2006/relationships/notesMaster" Target="/ppt/notesMasters/notesMaster1.xml" Id="Rf546fef7065442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f07a149256409d" /><Relationship Type="http://schemas.openxmlformats.org/officeDocument/2006/relationships/notesMaster" Target="/ppt/notesMasters/notesMaster1.xml" Id="R39986243480a4e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36f603b26e4dee" /><Relationship Type="http://schemas.openxmlformats.org/officeDocument/2006/relationships/notesMaster" Target="/ppt/notesMasters/notesMaster1.xml" Id="R40dd3f28eb7e41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1857d65cb44812" /><Relationship Type="http://schemas.openxmlformats.org/officeDocument/2006/relationships/notesMaster" Target="/ppt/notesMasters/notesMaster1.xml" Id="R1cd634521c444d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8ab41349384372" /><Relationship Type="http://schemas.openxmlformats.org/officeDocument/2006/relationships/notesMaster" Target="/ppt/notesMasters/notesMaster1.xml" Id="R174d6c51b89f41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c6ec575a20405d" /><Relationship Type="http://schemas.openxmlformats.org/officeDocument/2006/relationships/notesMaster" Target="/ppt/notesMasters/notesMaster1.xml" Id="R56ca3379e4ea40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組員審閱稿。主要資料來源為環境部 AQX_P_488：https://data.moenv.gov.tw/dataset/detail/aqx_p_488。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 2025 reports that air-pollution exposure is associated with nearly one in eight deaths globally: https://www.who.int/publications/i/item/B09461. Taiwan MOENV hourly historical data: https://data.moenv.gov.tw/dataset/detail/aqx_p_488.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研究問題與限制是本提案的操作定義，將透過文獻回顧與資料盤點驗證。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來源：MOENV AQX_P_488 https://data.moenv.gov.tw/dataset/detail/aqx_p_488；即時資料 AQX_P_432 https://data.moenv.gov.tw/dataset/detail/aqx_p_432；MOENV air-pollution sensing IoT https://env.moenv.gov.tw/en/Issue/Index/53b6ae55-bb69-449e-953e-01c2330ca3b8。API key、歷史資料保存和查詢限制仍需實測。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 et al. Neuro-Air (2026), https://www.nature.com/articles/s44407-026-00102-4. Anomaly work DOI 10.1109/ACCESS.2025.3604216. Yenkikar et al. DOI 10.1016/j.mex.2025.103517. Taiwan forecast Lee et al. DOI 10.1038/s41598-020-61151-7. Sensor work: Tzeng et al. DOI 10.1111/biom.13819; Dong et al. DOI 10.1016/j.scitotenv.2025.179364; Fang et al. DOI 10.1016/j.scitotenv.2025.180106; Lekamge and Oswin DOI 10.1038/s41612-025-01115-8.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 is a hypothesis, not a verified claim. Confirm after systematic review of air-quality dashboards, retrieval-grounded agents, and sensor data quality studies.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流程為提案設計。風險與健康用語會依權威領域資料進一步校對。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資料來源與欄位見研究文件及 DESIGN.md。SensorThings API 資料對應須先完成驗證。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is the intended MVP interaction. The agent may ask a follow-up if location/time cannot be resolved; it should never conceal missing or stale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is intentionally model-agnostic; final algorithm and baseline will depend on historical data coverage and team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protocol is proposed, not executed. See slide 16 and Proposal.md.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references appear in Proposal.md and Proposal_TeamReview_v1.docx. The final topic, test set, and work split require team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MOENV AQI method: https://air.moenv.gov.tw/envtopics/AirQuality_1.aspx. WHO AQG: https://www.who.int/publications/i/item/9789240034228. Site representativeness and sensor siting: https://www.epa.gov/air-sensor-toolbox/guide-siting-and-installing-air-sensors.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Dong et al. (2025) DOI 10.1016/j.scitotenv.2025.179364; Fang et al. (2025) DOI 10.1016/j.scitotenv.2025.180106; Neuro-Air (2026) https://www.nature.com/articles/s44407-026-00102-4.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proposal documents these research questions as a review checklist, not as completed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evaluation matrix in Proposal.md. Results are not yet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domain sources: Dong et al. (2025), doi:10.1016/j.scitotenv.2025.179364; Fang et al. (2025), doi:10.1016/j.scitotenv.2025.180106; Lekamge and Oswin (2025), doi:10.1038/s41612-025-01115-8. URLs are listed in Proposal.md.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fa790721e49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6f2f0256742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57c0256b14f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7f2fe024a4c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97b27aae843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ff7fc82794f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3AEDDF-24D6-47DE-9384-657CE5BD62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309D4C-8156-4530-907F-BCE1753345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796E76-16C2-4523-8BE5-4A5F58B79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45C122-0C95-4B9B-A504-7202373F4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745EFF-0046-4B34-95F5-B41B303D19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448075-A0ED-4657-B0C0-065E46AF3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CB4F44-1080-4824-93FC-29F33D33EF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3C4C84-0F42-423D-8FA7-A8BBC734C9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0E0701-57D7-4E07-91EF-E897FB6CC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53E855-1F9F-4D2B-8126-9012D6B183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1afd9167c24749" /><Relationship Type="http://schemas.openxmlformats.org/officeDocument/2006/relationships/slideLayout" Target="/ppt/slideLayouts/slideLayout1.xml" Id="R4fe9106b2d6649ee" /><Relationship Type="http://schemas.openxmlformats.org/officeDocument/2006/relationships/slideLayout" Target="/ppt/slideLayouts/slideLayout2.xml" Id="Rf7bd2f7120504183" /><Relationship Type="http://schemas.openxmlformats.org/officeDocument/2006/relationships/slideLayout" Target="/ppt/slideLayouts/slideLayout3.xml" Id="R342cc8ac375145b8" /><Relationship Type="http://schemas.openxmlformats.org/officeDocument/2006/relationships/slideLayout" Target="/ppt/slideLayouts/slideLayout4.xml" Id="R44350e1a1d5b4610" /><Relationship Type="http://schemas.openxmlformats.org/officeDocument/2006/relationships/slideLayout" Target="/ppt/slideLayouts/slideLayout5.xml" Id="Rcb343e0f36064862" /><Relationship Type="http://schemas.openxmlformats.org/officeDocument/2006/relationships/slideLayout" Target="/ppt/slideLayouts/slideLayout6.xml" Id="R27a455df48274b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9106b2d6649ee"/>
    <p:sldLayoutId xmlns:r="http://schemas.openxmlformats.org/officeDocument/2006/relationships" id="2147483650" r:id="Rf7bd2f7120504183"/>
    <p:sldLayoutId xmlns:r="http://schemas.openxmlformats.org/officeDocument/2006/relationships" id="2147483651" r:id="R342cc8ac375145b8"/>
    <p:sldLayoutId xmlns:r="http://schemas.openxmlformats.org/officeDocument/2006/relationships" id="2147483652" r:id="R44350e1a1d5b4610"/>
    <p:sldLayoutId xmlns:r="http://schemas.openxmlformats.org/officeDocument/2006/relationships" id="2147483653" r:id="Rcb343e0f36064862"/>
    <p:sldLayoutId xmlns:r="http://schemas.openxmlformats.org/officeDocument/2006/relationships" id="2147483654" r:id="R27a455df48274b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3c3163b7f4d9d" /><Relationship Type="http://schemas.openxmlformats.org/officeDocument/2006/relationships/notesSlide" Target="/ppt/notesSlides/notesSlide1.xml" Id="R30beea95661b49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15460d0ec491b" /><Relationship Type="http://schemas.openxmlformats.org/officeDocument/2006/relationships/notesSlide" Target="/ppt/notesSlides/notesSlide2.xml" Id="R6e263e6f5b0c40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31e7b2ae34d95" /><Relationship Type="http://schemas.openxmlformats.org/officeDocument/2006/relationships/notesSlide" Target="/ppt/notesSlides/notesSlide3.xml" Id="Rbd076552a50445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596c5a1a648ed" /><Relationship Type="http://schemas.openxmlformats.org/officeDocument/2006/relationships/notesSlide" Target="/ppt/notesSlides/notesSlide4.xml" Id="Rc957e3ae2c8148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794e6413164aa9" /><Relationship Type="http://schemas.openxmlformats.org/officeDocument/2006/relationships/notesSlide" Target="/ppt/notesSlides/notesSlide5.xml" Id="R11cb6d4af32649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554be3ab74cdb" /><Relationship Type="http://schemas.openxmlformats.org/officeDocument/2006/relationships/notesSlide" Target="/ppt/notesSlides/notesSlide6.xml" Id="R7bcabaabf5d243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0b00d52d74f62" /><Relationship Type="http://schemas.openxmlformats.org/officeDocument/2006/relationships/notesSlide" Target="/ppt/notesSlides/notesSlide7.xml" Id="R5330d4785b904d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584968f7542b2" /><Relationship Type="http://schemas.openxmlformats.org/officeDocument/2006/relationships/notesSlide" Target="/ppt/notesSlides/notesSlide8.xml" Id="R7782b168562a45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5ecfeb950f4a00" /><Relationship Type="http://schemas.openxmlformats.org/officeDocument/2006/relationships/notesSlide" Target="/ppt/notesSlides/notesSlide9.xml" Id="Rf2b96aad3e4c49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3e3f3b54f41b2" /><Relationship Type="http://schemas.openxmlformats.org/officeDocument/2006/relationships/notesSlide" Target="/ppt/notesSlides/notesSlide10.xml" Id="R74ec543743a54c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8979c59104057" /><Relationship Type="http://schemas.openxmlformats.org/officeDocument/2006/relationships/notesSlide" Target="/ppt/notesSlides/notesSlide11.xml" Id="R6979ebf39bad42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575abe59c4130" /><Relationship Type="http://schemas.openxmlformats.org/officeDocument/2006/relationships/notesSlide" Target="/ppt/notesSlides/notesSlide12.xml" Id="Rb3c630d53f6c4d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486a5d09c4bfd" /><Relationship Type="http://schemas.openxmlformats.org/officeDocument/2006/relationships/notesSlide" Target="/ppt/notesSlides/notesSlide13.xml" Id="Rb0a010e307fa4f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d91dc0d674534" /><Relationship Type="http://schemas.openxmlformats.org/officeDocument/2006/relationships/notesSlide" Target="/ppt/notesSlides/notesSlide14.xml" Id="R1b57ef10586d43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5c599bf3b498d" /><Relationship Type="http://schemas.openxmlformats.org/officeDocument/2006/relationships/notesSlide" Target="/ppt/notesSlides/notesSlide15.xml" Id="R3c98bba29ef74d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2cb1e035644c8" /><Relationship Type="http://schemas.openxmlformats.org/officeDocument/2006/relationships/notesSlide" Target="/ppt/notesSlides/notesSlide16.xml" Id="Ra33c5584ee4246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dd6bfb2024d99" /><Relationship Type="http://schemas.openxmlformats.org/officeDocument/2006/relationships/notesSlide" Target="/ppt/notesSlides/notesSlide17.xml" Id="R7cb5a19172d243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00762-8D19-4BF4-8420-EEF1CB3A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72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B96DC-97AE-4D60-8580-79DCB21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74222-1047-499A-848F-9C7C1BF5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D4258-2ACB-4DA0-BD40-87CCF800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期末專題提案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02A56-6562-43A0-8E16-DC7BCEEA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7381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台灣空氣品質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91B8A-AADB-40A8-B29A-EE313990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6787D-F2ED-4821-A09C-C7661094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以逐時監測資料解讀污染事件、趨勢與站點差異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D4C66-8EC9-4D26-BB96-FAD292A7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rPr>
              <a:t>Proposal draft  ·  2026</a:t>
            </a:r>
          </a:p>
        </p:txBody>
      </p:sp>
    </p:spTree>
    <p:extLst>
      <p:ext uri="{BB962C8B-B14F-4D97-AF65-F5344CB8AC3E}">
        <p14:creationId xmlns:p14="http://schemas.microsoft.com/office/powerpoint/2010/main" val="1704192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E70F0-734F-4D84-B897-7E480C55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23712-B6C3-47C7-BE28-C5D3CCE7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研究動機｜資料很多，解讀仍需要脈絡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1C4D1-AC18-41F2-96CC-8C528081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從可查詢的監測值，走向可追溯的事件解讀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59DC6-FA24-402E-80C1-08D665B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797F3-9252-4285-9BBE-AAE642C0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D7D36-EF1A-40A7-BAC0-0EFD511E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EDD55-5AE5-41E3-A1F9-813E7418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逐時官方資料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951B0-92F4-4C81-A8C1-5A2C6C8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AQI、污染物、風場、座標、發布時間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7709E-536D-40A7-B495-3CFFC51D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24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2702B-0B13-43B5-8BB0-FB98CE81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使用者真正想知道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85B9E-D5F9-4B17-BCC1-85C53EED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35CBF-CB68-4E58-BD87-87567796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哪個污染物帶動指標變化？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6C90F-1060-4B6B-84BA-37D492EB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16BBA-6E7B-4D7F-89DF-62466486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附近測站是否也出現相同變化？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7ED2C-D6CA-4CEF-B720-7569E75F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4E29D-C7E9-4B71-98C1-E534CF5F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資料有多新、能支持什麼結論？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4D55A-3524-474A-B833-3B9AE5A3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3C7BE-A396-4A3E-BE28-BB3A0DD3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約 1/8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75821-E117-4FDD-A4A9-96245277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全球死亡與空污暴露相關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2B940-3C3F-4D7A-AFAD-DBDA4F0D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WHO 2025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21E92-3872-4CD3-AC49-8AC1925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719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台灣逐時站點資料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3B0A0-71F0-4A3E-B4E8-4A926EEC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814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可以追查地點、污染物與時間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3F78E-C678-49D7-8628-DF7C6A4E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97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目標：把觀測值轉成可核對的解讀</a:t>
            </a:r>
          </a:p>
        </p:txBody>
      </p:sp>
    </p:spTree>
    <p:extLst>
      <p:ext uri="{BB962C8B-B14F-4D97-AF65-F5344CB8AC3E}">
        <p14:creationId xmlns:p14="http://schemas.microsoft.com/office/powerpoint/2010/main" val="1008518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6841A-A384-4AF1-9D90-78AE4503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94DB0-9239-48E3-AF8C-EAFB60CE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問題定義｜讓空品回答可核對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DF17D-23E0-4DBD-A7FB-82347AB9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聚焦地點、時間、污染物與證據來源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B6D39-2308-45C5-8A71-D8D0302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CE296-9399-4495-8237-898B9051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5F5E2-FCB5-459B-ADFF-A23ECC94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5A0EB-8519-4C78-BAE5-1CEB4617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75AB2-81B0-4649-AC2C-D8AB849D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給定一個地點與時間範圍，系統如何把公開監測值轉成可理解、可追溯的說明？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F9309-E768-438C-B703-F36E5840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78881-F817-4528-A6EE-E50301E5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781F1-1FEF-4697-9DB2-80963032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2AC0B-8EB5-4162-857E-3D392ACD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 可能概括了多種污染物；單一數值未必說明變化原因。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F1D73-D108-4F34-B851-00B3B128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D9595-9E50-49D4-99B2-098E1AB2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8E0BF-0216-4EE7-A84F-7BD51417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AFA64-118C-49A9-86B4-1AD8F9E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測站資料有時間差、缺漏與地理差異，需要對齊後才適合比較。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EB1097-4107-4CCE-A6EC-D16848AD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D5C7A-6572-4240-B0B9-820BFCE2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F0F9B-0373-499A-B339-70439E8E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表達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316C2-2067-47C0-A38B-4EEDAC9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回答必須區分觀測事實、分析推論與資料不足之處。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487EB-ACE4-4D6C-AE94-F0231C0B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目標使用者：需要快速理解台灣特定地區空品變化的一般使用者與課堂評估者</a:t>
            </a:r>
          </a:p>
        </p:txBody>
      </p:sp>
    </p:spTree>
    <p:extLst>
      <p:ext uri="{BB962C8B-B14F-4D97-AF65-F5344CB8AC3E}">
        <p14:creationId xmlns:p14="http://schemas.microsoft.com/office/powerpoint/2010/main" val="295132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F42F4-DD92-4DB6-8B6A-8352D783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E9718-DD3F-4894-A9A5-A0DB6D0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資料基礎｜已完成第一輪資料清理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363E3-BDEC-4192-9797-5EAE1B79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AQX_P_488 歷史逐時資料｜目前下載範圍為 2026-01-01 至 2026-10-29 16:00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9756A-B996-443E-8205-8E62C6AE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24066-630C-4DEC-86FC-0BC9F7B8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34A46-3CDC-463A-8C67-5EEBD6B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E11D3-3797-4BFD-A460-BE4691A6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3190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B8809-66BD-4F7C-8C40-B1BAA871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7775C-01CF-4EFC-80AE-36521091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57375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原始下載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3D0BC-4885-4C18-80EC-6090293C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5742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970,296 列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10 個 CSV 檔案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88 個測站編號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63489-140B-4139-AC7C-6FDE5CCE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3190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B6E80-8C71-4275-A1FC-57E3C0A1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79ED9-444F-489A-86A2-33F6C1E5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57375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清理後資料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4735B-780C-4EDF-A1F8-0A0003A8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5742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606,137 列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合併 364,145 個重複鍵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恢復 4 個可唯一辨認的站號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D8939-01F0-45B5-B34F-2A545E96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3190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20612-B4C4-45C1-8559-8DE884EF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E38E1-7002-4B02-AF51-1D72F807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57375"/>
            <a:ext cx="2828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品質處理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9998B-27C2-4609-8D25-7D5428AA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57425"/>
            <a:ext cx="2809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隔離 13 組衝突鍵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衝突原始列 26 列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無法辨認站號列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9B833-B78A-469F-9EFF-6F39E821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1052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範圍限制：這是部分年度下載資料，尚未證明各站各時段皆完整；數字不代表全年或完整季節結論。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7517B-E518-4E21-ADF2-3F47959D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鍵值使用 SiteId + DataCreationDate；測站名稱僅作顯示，不作跨檔案合併鍵。</a:t>
            </a:r>
          </a:p>
        </p:txBody>
      </p:sp>
    </p:spTree>
    <p:extLst>
      <p:ext uri="{BB962C8B-B14F-4D97-AF65-F5344CB8AC3E}">
        <p14:creationId xmlns:p14="http://schemas.microsoft.com/office/powerpoint/2010/main" val="286666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C4D05-DB23-47F7-AA61-497537EA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6AFD0-F378-4593-B361-798BFE13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相關研究｜方法之外，也要理解量測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31154-064B-462C-BCAB-8165591C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AI 技術與空品領域知識各占一半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32643-DA19-45F8-9D58-6AEDD0CF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F1E21-5924-4F81-A244-8142EBC2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76769-3082-4A5D-ADED-C4172087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05CB8-F9ED-4202-A9EF-B86F16CB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AI／資料分析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0A801-38F7-41B1-AD90-2D51B72A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Neuro-Air（2026）：多代理空品分析，香港與河北，317 題評測</a:t>
            </a:r>
          </a:p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2025 異常偵測：向量檢索、鄰站 DTW/Z-score、LLM 說明</a:t>
            </a:r>
          </a:p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2025 AQI 預測：Random Forest + ARIMA 殘差、SHAP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175E1-A532-4AE4-9B99-F6E706B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19050" cy="3714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41D36-6B52-4155-8A4B-18338316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領域知識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0AA30-9684-421F-B866-A42934DE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台灣 PM₂.₅ 預測與區域氣象差異（Lee et al., 2020）</a:t>
            </a:r>
          </a:p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AirBox 空間校正與低成本感測器驗證（2023–2025）</a:t>
            </a:r>
          </a:p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濕度、部署時間和測站代表性會影響解讀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1EA56-C5ED-4FA7-AD5A-1A45C0C0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1C1E7-AFB8-47A3-B2FE-17C4A7C0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文獻定位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E0D1D-39AB-4E08-95EF-B9145009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已有空品多代理與時間序列 LLM 研究，因此本專題不宣稱首創 Agent；聚焦於台灣 AQX_P_488 問答中的數值正確性、來源回連和資料不足時的處理。</a:t>
            </a:r>
          </a:p>
        </p:txBody>
      </p:sp>
    </p:spTree>
    <p:extLst>
      <p:ext uri="{BB962C8B-B14F-4D97-AF65-F5344CB8AC3E}">
        <p14:creationId xmlns:p14="http://schemas.microsoft.com/office/powerpoint/2010/main" val="390235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5806D-B7C6-44CB-B67B-67DDFCA1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CBDD2-BB25-4906-89AD-0184B551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研究缺口｜把數值分析與回答責任接起來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F28B5-68CE-4650-B962-0B4CBA70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本提案的缺口仍是待文獻系統性確認的研究假設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07A7A-1639-49A5-92FA-E7DC192B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4BDF3-C040-4EE2-A5D2-F79CD712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21E5B-81B3-4A45-8079-41F25C64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2F42B-0A0F-494F-9712-2A38AB4E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現有能力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A1277-F191-4E3F-857F-8714AB4E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官方測站資料與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感測網路各自提供觀測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780D9-DA11-4017-88DC-9644439B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30EEB-66DC-4777-9780-26C8108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尚待處理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D830A-8032-402D-BFA0-6E4B4A82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資料品質、時間差、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污染物脈絡需一併呈現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885D8-FFBC-4366-ACB1-252696E2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8A63B-EEAA-4DA3-A2A8-783A02A6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本專題補足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5FCA2-4D4B-4FC3-A1D9-01E25AFD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Agent 對每項結論附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測站、時間與數值證據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6BFDF-B61A-4A42-8E68-51B8E983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CAA11-EF3E-4FBC-918E-4D7B5F2E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如何驗證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D8BCB-C886-41E3-BC39-640653E6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人工核對來源與數值；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比較透明的簡單基準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84440-9349-4053-A85F-4F5B0B69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ED9DF-D3B0-4BDC-8CE0-C4FA1232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Research gap（暫定）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56BBB-70E1-416A-B58B-FA22EDD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缺少一套針對台灣公開空品資料、同時呈現來源可追溯性、時間/站點脈絡與不確定性，並用明確基準評估的互動式解讀流程。</a:t>
            </a:r>
          </a:p>
        </p:txBody>
      </p:sp>
    </p:spTree>
    <p:extLst>
      <p:ext uri="{BB962C8B-B14F-4D97-AF65-F5344CB8AC3E}">
        <p14:creationId xmlns:p14="http://schemas.microsoft.com/office/powerpoint/2010/main" val="1709895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51D946-E794-4DE8-B5D1-7AC803A9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6C4BA-08CB-481A-BFE5-BC776F94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Agent 設計｜問題拆解後才選工具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6E1C6-76DD-438E-915F-1CF3C3C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生成式模型負責理解與表達；數值由資料工具計算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2FC8C-E747-4CB8-A050-3F8247A8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09B24-5106-4381-9E92-3E1FEDFA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7AC9F-43DB-4D40-B7EC-27285F7A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CDAA2-03D3-4D5F-81CC-1D5AFA33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6EA98-93F6-455B-9620-33D5B4FF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6FE63-2C52-4A87-9723-C3BEB0B3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判斷意圖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1508D-A02D-48FF-8CAE-92007B10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趨勢 / 比較 / 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9B577-18FA-4E38-83F2-88BF20D6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0B1DE-25D2-4E64-A4EB-8A10412F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9D45D-2AE7-4477-81F9-1D7C3FB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3B773-1F11-4907-9371-3C66851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取回資料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87A77-51C9-4BBF-8826-4964674D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測站、時間窗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6D5E7-5EF9-4148-9D4A-6664CAFE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D394D-99B3-4329-AD08-F4764BAE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B2B6A-9887-46F4-9E72-FCD7D069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4E8B0-6A7C-4BAC-AE72-5A715BBA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檢查品質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053CA-C664-40FC-BABB-8E0B0C91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缺漏、延遲、單位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E84C2-2F3B-4499-A8A3-D43B8DE3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9E9D5-04C0-4349-BDA7-C589D4BD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0C683-59F1-488B-9E22-9A204B5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F97F1-122C-405B-83CB-3FD8186A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執行分析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D04759-94DF-40F5-884B-BAE9D195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變化、基準、差異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C6A66-A535-4CD1-A8A3-9EBB9508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160F9-AF1E-44C8-A8BE-8D083CE2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0B5302-DD52-4C75-A3A6-CCC6E7B0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E1CFE-7E96-489F-AEFD-71ADA0C4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組合證據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5555-41B3-46A3-9130-A610460F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污染物 + 領域規則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2E462D-B103-41AD-A549-7C651CBE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C34DF5-49BE-486A-A484-770B1EE2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DB116C-2061-4E8E-A573-B30107CF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DB7D54-6A5A-44A6-A7FA-04EB1B0B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回答核對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56D2B8-FD74-4F95-8EED-01E46D6B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來源、限制、不確定性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06991F-47E8-40DD-9157-883116FE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10610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9F1FF1-2F29-46EC-8E53-235DF789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安全邊界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81DD3D-9DB8-4CAB-B2C6-83AEFA2E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719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不推定污染來源、不診斷個人健康、不輸出沒有來源記錄支撐的數值。</a:t>
            </a:r>
          </a:p>
        </p:txBody>
      </p:sp>
    </p:spTree>
    <p:extLst>
      <p:ext uri="{BB962C8B-B14F-4D97-AF65-F5344CB8AC3E}">
        <p14:creationId xmlns:p14="http://schemas.microsoft.com/office/powerpoint/2010/main" val="115373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055F95-B25C-410F-A0C1-A55DEA7E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A5044-8F0E-4F66-8188-86EF7866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System Architecture｜資料、分析與領域規則分層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94B87-544C-4666-B1B1-6522741F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方塊代表可實作模組；IoT 來源為條件式擴充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C220D-3FE4-4E3A-9EFB-C39C3E52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DBD71-DC80-4F16-BF8B-2C015901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E87FF-9809-4CA2-A9C0-CC72E017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77825-4C3A-4F97-A451-FF833344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24E68-F36B-4960-849C-036759E0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① 使用者</a:t>
            </a:r>
          </a:p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D41E2-FA04-47AA-B970-75AD51A8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地點 / 時段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F3E14-105B-43A9-999A-56A5CA1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C45BC-BFC0-4788-BA21-5B9BDB70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AB26A-CBA2-40F6-BF60-43B55B31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②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31757-526B-4106-BB3D-E5E83426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意圖 / 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AC7E5-79A3-4BD8-8FEB-3602E732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AB84F-FAE2-4EC7-917B-AE267B90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197B8-F47F-4CFC-931B-712B0A78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③ 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68448-87F7-41CD-A908-0F8D301C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官方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A348A-B630-4A73-B48E-A8B5701B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DF34D-027F-44F8-BC06-EF511A25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C74D5-33C9-4567-B184-3008C657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④ Data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A5806-22FB-4BCC-92AF-50B1A5FB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對齊 / 品質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F01CD-9B25-4DE6-A48D-D6468579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4C3B1-236B-4305-BFD0-E06BBF2F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51F9B-87AE-4AF5-B5CE-5DAA3966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⑤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F0DD1-69C0-4E93-81AC-89DB1F14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趨勢 / 事件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DF39C-6FC5-42E5-B06C-D07374F2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0AC35-4DB5-47B8-817A-F00339FE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61C25-13C0-4DA4-9C3D-D0CDE47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⑥ Domain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89AED-B1CB-47AA-A9A2-3C0928C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 / 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ADED7B-4F76-40D9-940F-34FF69B6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E4B4C-FC8E-4F3C-BF39-0712D794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B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1169EA-50CB-4914-BBF4-6F650BCF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⑦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C23970-D614-4C08-B36B-3B298B6B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來源核對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341CF9-A781-42CF-AADD-03508960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79F75D-A374-4961-A14E-6EC874F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152100-FDB8-489C-912C-92C3CDF1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⑧ Output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ED7236-6F54-40EE-8B4E-C144AA0E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解釋 / 限制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DD7D18-9118-485D-B824-7472F0D4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19575"/>
            <a:ext cx="3000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2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6D5F61-4F7B-427C-B8E1-3735E5AB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719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rPr>
              <a:t>MOENV AQX_P_488｜歷史資料主來源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A34C10-94FE-4911-BE8E-5403C55F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19575"/>
            <a:ext cx="3429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DD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4EED70-8C09-4777-B5BC-387BF4E8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Civil IoT 感測資料｜可選擴充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9DB0FA-5CCB-4D7E-95F5-532F9983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4700"/>
            <a:ext cx="0" cy="904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767B2C-FE01-44B3-8F21-E3B18098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14700"/>
            <a:ext cx="0" cy="904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1733B6-2F97-4093-A454-B4713961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795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回答必須可回連至測站、發布時間、欄位與原始來源。</a:t>
            </a:r>
          </a:p>
        </p:txBody>
      </p:sp>
    </p:spTree>
    <p:extLst>
      <p:ext uri="{BB962C8B-B14F-4D97-AF65-F5344CB8AC3E}">
        <p14:creationId xmlns:p14="http://schemas.microsoft.com/office/powerpoint/2010/main" val="2692262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FF0BC0-66CA-4C00-B272-17532808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E2084-3BA3-4F7A-AFDC-28AFC724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Flowchart｜資料不足時明確回報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524C6-A321-44CD-B36C-E8EFACC4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以例外路徑避免把缺漏資料包裝成確定答案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CA1FD-2B10-4BEA-9797-1E34D8C8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67B16-03A4-4644-9BC5-A88833B1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6EB70-0DAA-4E2E-90BF-5B708C3D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57D83-BA67-405E-B643-2081B911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427BB-3CF0-47C3-8152-F55E099C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81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收到問題 → 解析地點與時間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6F5F5-927E-4772-AB34-19971A17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9072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AC91E-17DB-4F7A-82C8-5ADC0B02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860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AA505-EC20-4352-A4C8-039D586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907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取回對應測站紀錄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F3111-4639-46BF-A110-2F48E8F2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80E5B-8434-482D-82CC-278CEB33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9562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370A7-678A-4164-9BA7-A5ECACC3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檢查新鮮度、缺漏與時間連續性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1A321-588A-481D-B507-B597AD32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997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EEAD2-6602-405C-886E-2215FBAF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706A3-D4A5-4F2C-AA73-E3107122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執行趨勢 / 事件 / 站點比較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8B61B-2083-4C36-97A2-8C7AB79A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1960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C13AA-3E58-404A-BDE2-F4784957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148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6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25E1E-0BFF-42E8-8320-8EDDF80E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附證據與限制產生回答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AD298-D69E-4387-B8A0-EA1E18BD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1428750" cy="9048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E4D9"/>
          </a:solidFill>
          <a:ln xmlns:a="http://schemas.openxmlformats.org/drawingml/2006/main" w="9525">
            <a:solidFill>
              <a:srgbClr val="E48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2AE2E-0FE7-4697-9A8F-F2C32DCE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527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資料足夠？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10F2D-8B59-4821-A9EE-64C70A96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43275"/>
            <a:ext cx="742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87F36-6B14-4FBC-80AD-6FEC8FFA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A4DDB-E4D3-4285-AE77-506AC670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90950"/>
            <a:ext cx="0" cy="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64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D64E4-A20A-4940-B1DD-031DC25F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95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9EA208-5465-47F7-9849-F1790FBB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571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7"/>
          </a:solidFill>
          <a:ln xmlns:a="http://schemas.openxmlformats.org/drawingml/2006/main" w="9525">
            <a:solidFill>
              <a:srgbClr val="A64B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E3622-0E14-473B-B857-27B1CC64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577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回報資料缺口</a:t>
            </a:r>
          </a:p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與最後更新時間</a:t>
            </a:r>
          </a:p>
        </p:txBody>
      </p:sp>
    </p:spTree>
    <p:extLst>
      <p:ext uri="{BB962C8B-B14F-4D97-AF65-F5344CB8AC3E}">
        <p14:creationId xmlns:p14="http://schemas.microsoft.com/office/powerpoint/2010/main" val="864168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C474D-D9E1-49A6-A8F7-60C93DF9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FAB9C-18E2-4E17-8506-F353874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核心演算法｜每項結論都保留來源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7BC04-55C3-4E35-A79D-5BB52A7D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數值分析由工具執行，LLM 不直接編造監測數值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F73DB-2D31-4CA5-97E2-53165822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CB305-5E44-4622-833E-7051FBFF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1CE49-FD5F-40CB-B8F5-0466AE30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3BCBF-9E08-44E7-8827-43C8AE7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01  intent, place, period, pollutant ← parse(question)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E7CE8-132B-40F1-A257-D4AF282D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02  stations ← select_supported_stations(place)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1C630-BCCA-406D-A32F-188537B4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03  records ← retrieve(stations, period)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18DA6-78DE-4537-8893-EFDAF0A5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04  if records empty: return source_status_and_gap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59D49-314F-4542-B336-E3685143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05  records ← normalize_units_and_timestamps(records)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621EB-B7F3-4D54-927F-8FA3387C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06  quality ← check_missingness_duplicates_freshness(records)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2F180-6F81-4690-8BAD-FA00752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07  if evidence insufficient: return limitation_response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85A94-2192-4ED1-8945-D1EEAC80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08  result ← analyze_trend_event_or_station_difference(records)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5FEF6-2C21-478F-8116-B49425D1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09  result ← compare_with_simple_baseline_if_needed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67CE6-E359-4EAA-958A-0A8BCF0B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10  claims ← apply_domain_rules_and_attach_provenance(result)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7BFCD-FDFD-4FE3-A3BB-D2E245C3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11  claims ← remove_or_qualify_unsupported_claims(claims)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23F93-2747-40D6-A89B-8F124789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12  return answer(values, timestamps, sources, uncertainty)</a:t>
            </a:r>
          </a:p>
        </p:txBody>
      </p:sp>
    </p:spTree>
    <p:extLst>
      <p:ext uri="{BB962C8B-B14F-4D97-AF65-F5344CB8AC3E}">
        <p14:creationId xmlns:p14="http://schemas.microsoft.com/office/powerpoint/2010/main" val="1303746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3714BB-6A72-4A57-8E2E-96DF49E0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4D1D3-2C00-4D98-99B5-D78D7C41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評估面向｜數值、來源與限制處理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FD2B0-FA44-47BF-8BD1-7C672323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指標與題庫設計見第 16 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8A8A3-037C-49C9-A1C1-F6EFD92E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92534-BFA5-4016-9F09-5A4ED6A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64C7F-A1AA-4BBB-BBBF-232D019B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FB8C0-A67E-4D95-B872-58CF256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93A07-D301-49CD-8510-A42151A0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2D716-0DDE-4F64-8EDB-3FB72042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數值正確性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8A617-77A1-41E7-BCC6-DB706E1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AQI、污染物、趨勢方向、變化量和測站排序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10C79-A26E-46A6-88F9-936071A8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90D86-137A-4541-BC54-DFB09174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27CD5-0C25-48F5-A571-8EECF80E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證據忠實度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95923-D204-4D73-AAC7-DDF626B8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測站、時間、數值與來源紀錄是否逐項對應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2CBF2-E315-4B47-AFA1-62B17C06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4F0A7-8155-4E03-AB97-65C94798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F1C31-C900-4F4F-B16C-4876F02A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限制處理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D6E51-ECC2-42BC-BF9B-BC1D0B39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資料不足、衝突或越界問題是否正確說明或拒答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8ED51-26EA-439D-9199-76BDBB41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壓力案例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F77A8-FF43-4F0D-AA5D-0BDAE8F3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ADA23-EE2C-4DB2-A7EC-F3B8784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資料陳舊或中斷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9741A-D23D-4F75-B3FC-5BDD599E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FD1C7-10CD-4A35-8F20-1DD9329B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測站值衝突或時間不完整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0B208-2A67-47B5-AE2B-5A7F8A3A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1784C-D4F4-4907-B7B1-6DE9A5F6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詢問污染來源因果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D006D-CBAB-4191-9CBD-E54DAEBC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5E1A1-D4F4-42FA-A9F1-2557760E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要求個人醫療或暴露診斷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0DFE1-E357-4938-B086-F8242A73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Agent 尚未實作；所有指標均為預定評估，不是已取得的結果。</a:t>
            </a:r>
          </a:p>
        </p:txBody>
      </p:sp>
    </p:spTree>
    <p:extLst>
      <p:ext uri="{BB962C8B-B14F-4D97-AF65-F5344CB8AC3E}">
        <p14:creationId xmlns:p14="http://schemas.microsoft.com/office/powerpoint/2010/main" val="12537967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C74A7-F1B0-49F4-90B5-03D3FE20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0B69F-BA6E-46D4-AF89-647E0C1F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預期成果與下一步｜先驗證資料，再鎖定實驗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05CB8-F28C-4503-A1FA-F9357F24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本提案尚未進行模型實驗，以下均為預期工作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CB3E8-0D56-4A48-98E0-505B156C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F90D4-E739-4BDA-B894-9D525940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55247-78AF-4276-A261-1E8B8B1B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29FE9-99AD-42E1-9005-1296FB8F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目前已完成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208D8-9998-444D-A2FA-33FA0D9F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BA7D7-5649-49CC-9C38-ECF8D034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1455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AQX_P_488 第一輪清理與品質報告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DD73B-AB04-4504-B49F-3E5838E4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B2425-3E93-4032-BFAA-F9AC0EC3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95575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資料來源可追溯 Agent 設計草案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A7DAD-6400-4830-B8DB-3D14C5D4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A1FCE-79E7-42A6-9618-88517284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7660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提案文件與組員審閱投影片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F7536-D275-4102-AB5E-2B29BF89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9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組員需共同確認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E3263-26C0-462A-8F39-339CE8C3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31A91-D8A0-4F5C-AAA5-8679F67A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研究問題與 60 題評估可行性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B2506-1B48-4791-B2B7-E66AE664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43591-9AEC-4D36-BF96-F819208A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是否限定特定地區或全台資料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D7542-8E97-4076-9F60-A071180B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91FD1-A78E-4DFB-B78F-F393695A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角色分工、時程與實作技術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31DD8-261D-4A66-ADA8-0404C9EA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0620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424486-2F59-4FAC-910D-64F73F3F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主要來源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D322F-475A-4CAD-9EF7-FF8740A8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環境部 AQX_P_488｜歷史逐時 AQI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環境部 AQI 定義｜空品指標與平均時間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WHO (2025)｜空污暴露與健康證據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完整研究文獻與網址見 References</a:t>
            </a:r>
          </a:p>
        </p:txBody>
      </p:sp>
    </p:spTree>
    <p:extLst>
      <p:ext uri="{BB962C8B-B14F-4D97-AF65-F5344CB8AC3E}">
        <p14:creationId xmlns:p14="http://schemas.microsoft.com/office/powerpoint/2010/main" val="2701596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3E7B4-CFC0-411C-8DB9-6789C345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0B66A-ED89-43A1-86BD-6790BB95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Deep Research｜五個核心思維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92DCD-ACE9-4155-B373-AEEF6F6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這些領域判斷限制了 Agent 能合理回答的問題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527BA-2C9C-4A5D-878E-80890E38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A4F29-6EB7-4733-B8A9-06D6F361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F8164-55D6-4FC7-892C-4E8CBFE1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D4528-A3D2-4864-B3E7-3E3414E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478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C5598-356D-4AA9-8674-42ECED2A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447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AQI 是摘要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BD8FD-26A4-4D4A-AA77-C07A307E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478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 取污染物副指標最大值；須保留主要污染物與平均時間。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3111A-40C7-4863-97F7-4E370AC2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771BA-BBD0-4BE5-800B-49C4851A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343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測站不等於個人暴露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9E085-E45A-4F74-A35C-071BDF0D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4315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站點讀值不直接代表個人所在微環境或吸入劑量。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A30EA-2A83-4FD6-A0BC-888B1827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D9DE2-E136-46FC-A043-9375B4D3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量測品質界定答案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53FD5-4FD7-486E-9082-AB10C55E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缺值、延遲、衝突和感測器偏差須先處理。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C79C4-9BB7-42B1-A646-0073A8C8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08F4C-3F0C-42B9-AE8E-943D22AA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33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比較前先對齊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20779-18DC-4620-9D4F-F464F495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3385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站點、時間窗、單位和平均尺度一致才可比較。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59328-76FD-4CA9-A5EC-09E170AF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C6297-B1DA-4290-B5CE-0C284062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029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相關不等於因果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27A98-8B89-4EFF-9F58-2C9AA354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29200"/>
            <a:ext cx="700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時空共變不能單獨證明污染來源或健康影響。</a:t>
            </a:r>
          </a:p>
        </p:txBody>
      </p:sp>
    </p:spTree>
    <p:extLst>
      <p:ext uri="{BB962C8B-B14F-4D97-AF65-F5344CB8AC3E}">
        <p14:creationId xmlns:p14="http://schemas.microsoft.com/office/powerpoint/2010/main" val="7221903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4FBF5-2853-4B55-B82B-7CFF61DD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84551-5D70-4D0D-B40F-79EE52F0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Deep Research｜三個專業爭論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1563E-C404-48E4-85D0-4CBCC399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每個爭論都會改變本專題的資料、模型或回答設計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64583-3EA2-449D-BDAE-CE7CAC93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AD20C-B7CB-45C4-9944-CE7F48A2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42105-9EF0-45EF-AB0C-D6EC3040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14B25-70FC-48E7-84CF-6202F285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低成本感測器能取代參考站？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5A29A-5CB2-4D7E-B376-307A07D5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支持：密集、即時、在地；限制：濕度、漂移、部署環境影響校正。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DE2C6-9697-43CE-B13D-CCB12E5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暫定共識：互補監測，校正與代表性驗證不可省略。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A62AD-58B4-4AB5-9180-B4D5146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複雜模型一定優於簡單模型？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40F8C-71F8-4086-B897-22ADAECF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支持：可捕捉非線性；反證：驗證資料可能無改善甚至過度擬合。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71DB9-72A2-41D5-B4F9-51D69E69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暫定共識：按部署情境做獨立驗證，保留簡單基準。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EF9C4-118C-4C79-B274-33FBC988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LLM 自由推理還是工具計算？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4A33D-7513-4E29-B87D-D1646D7F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自由生成較靈活；數值工具較可重現，但工具也可能查錯資料或誤解問題。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B025F-DDEF-470A-A902-26B65450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本專題選擇受限工具 Agent，並評估來源和拒答品質。</a:t>
            </a:r>
          </a:p>
        </p:txBody>
      </p:sp>
    </p:spTree>
    <p:extLst>
      <p:ext uri="{BB962C8B-B14F-4D97-AF65-F5344CB8AC3E}">
        <p14:creationId xmlns:p14="http://schemas.microsoft.com/office/powerpoint/2010/main" val="19577281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D8A4CA-DCE5-4AF5-914F-CF7E4A89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A5B9B-012E-46AE-A08D-C933FCA7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Deep Research｜十個待回答問題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58208-FBEA-4E0A-A025-9EAAC3B4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用問題檢查研究設計是否能被證據支持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33EAF-8E51-4BAD-A33D-200795E8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7DDE7-175B-4675-A98E-85E6F126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E6643-8B6B-4377-A823-415FBBA1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B459A-4C33-453C-8312-E92F7E7C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66880-AB78-43E3-95B7-22F6C6FC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383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 和主要污染物如何一起解讀？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633FA-7DBC-47FA-B167-C1484338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BDAC4-D744-49C1-B773-3C2C8278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6697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發布時間與觀測時間如何區分？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47E97-A336-4159-877F-A22A038D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9607F-2388-45C8-B70F-73416FC3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9565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測站缺值如何影響趨勢結論？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BFD55-7A10-4573-A8AE-C342FED6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CC0BB-A190-4622-B8A0-41C9D5C2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2432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測站比較需要哪些空間與時間條件？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5FCB8-AE46-49B2-B6A0-4F402EED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1D029-125D-4C77-9F55-DF394C05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何種規則能定義污染事件？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3D921-E9EA-4E13-85B0-5481D76B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94EAE-0A4C-4E8F-83EE-9FDDFD47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383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鄰站一致性何時是有效證據？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21052-0B04-460A-8AD4-71B2BE1F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669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82D50-0CCF-4B9E-AD1D-11C49C7B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LLM-only 會產生哪些數值錯誤？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B5F89-2882-43B5-8A1F-1F151C7B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A3CE9-3CFD-4435-8119-9F51D1F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來源引用要細到哪個紀錄欄位？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D7B1B-6EEB-4EAF-A6BF-1ECCF4F6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243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D8A3F-E9DD-4329-80F6-2D1754D6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24325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何時應追問、限制回答或拒答？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771E6-3760-46E8-BA10-EE067152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2AD28-872C-4E9D-AD6C-F322C68B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60 題如何避免只測簡單問題？</a:t>
            </a:r>
          </a:p>
        </p:txBody>
      </p:sp>
    </p:spTree>
    <p:extLst>
      <p:ext uri="{BB962C8B-B14F-4D97-AF65-F5344CB8AC3E}">
        <p14:creationId xmlns:p14="http://schemas.microsoft.com/office/powerpoint/2010/main" val="21292045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7D9FF-5996-48A7-866E-9B0D74D4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72734-2602-47ED-B4E3-78D0A767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評估設計｜60 題與三種基準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944E1-E3C3-4FCB-AA50-B18B431C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Proposal 規劃，不代表已完成 Agent 實驗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F332B-0BC8-4BAA-B178-361C324A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83515-9147-4E0B-832F-A21A0227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E396D-9551-49DE-9B0A-E662C1C8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41397-33B6-4A13-B1BE-3D665432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C734C-92C3-4E8B-8C43-98713E6D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BF077-EE87-49B4-B36F-6451AD1F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0225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題庫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AD0A4-A9D2-4DC6-84EF-F279077F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4381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45 題可回答：趨勢、測站比較、AQI／污染物各 15 題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15 題不足、衝突、因果或醫療越界情境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470A0-8A4C-4B42-8A08-F9A4723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143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CFD3D-ED28-4CB3-930C-7A2F0C09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96E7B-853B-4C55-BCE6-7327825B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0225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比較條件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6781C-DFE5-4DC2-AA6C-ADBDE093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02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LLM-only 直接回答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確定性工具輸出</a:t>
            </a:r>
          </a:p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工具型 Agent（本提案）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D0007-BE8D-44BD-9A8C-7D2F320B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主要指標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1F18C-5874-48B9-979F-F45AFEA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869D4-4E2F-46E7-8055-5CB04FA8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數值正確率：依題型與精度設定容許誤差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2B846-7ED3-4731-AC34-B6798F38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E6D8E-DCC3-4D44-A2F4-FC4676F1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29175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證據忠實度：測站、時間、數值與來源對應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BEE10-FFB8-4FD1-B5F3-5299DBA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D61BB-1114-4746-9A94-BC71AB90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1030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限制處理：資料不足、衝突或超範圍情境是否正確處理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4A361-7F19-4C74-A701-A434D61F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固定查詢與程式計算產生參考答案，再人工抽查；錯誤分析涵蓋缺值、日期邊界、站名差異和衝突記錄。</a:t>
            </a:r>
          </a:p>
        </p:txBody>
      </p:sp>
    </p:spTree>
    <p:extLst>
      <p:ext uri="{BB962C8B-B14F-4D97-AF65-F5344CB8AC3E}">
        <p14:creationId xmlns:p14="http://schemas.microsoft.com/office/powerpoint/2010/main" val="18179232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E6501-52CF-4DDC-874B-7528462C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41E09-6865-419F-86B0-A7688822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主要參考文獻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1CC06-FA2B-4F82-91E0-12F563AB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完整書目與逐項 DOI 見提案文件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A4982-7C90-4CE2-9C47-F4B1181B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99D8B-A9CF-427E-B31C-4A290BD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1FC44-6E58-45C7-955F-C345693A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CEFD0-9190-459A-AC97-D8D221B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854C9-52DA-4EF4-8501-031FE3AF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382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Ma et al. (2026). Multi-agent AI for end-to-end air quality analysis and decision support. npj Clean Air 2, 59. doi:10.1038/s44407-026-00102-4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A5053-C6A8-474B-AE68-FBACC78C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99C2E-E7F8-4FBB-A106-01B531F2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621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Anomaly Detection Using Generative Language Models and Deep Feature-Based Time Series Similarity (2025). IEEE Access 13, 157147–157159. doi:10.1109/ACCESS.2025.3604216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3B50C-3DEB-46A0-96E6-3B42CA00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F2F8F-8A8B-4895-AF55-9B9B322C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860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Yenkikar et al. (2025). Explainable forecasting of AQI using hybrid random forest and ARIMA. MethodsX 15, 103517. doi:10.1016/j.mex.2025.103517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B8DC6-6F13-4E90-8B6A-BD40ACD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5A501-3644-47B6-AA85-76B9CD06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99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Lee et al. (2020). Forecasting Air Quality in Taiwan by Using Machine Learning. Scientific Reports 10, 4153. doi:10.1038/s41598-020-61151-7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65C7B-34C4-464A-BFA2-C2DFE52A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2CC4D-E20E-40F1-90A5-96AE13A4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Tzeng et al. (2023). Spatially adaptive calibrations of AirBox PM2.5 data. Biometrics 79(4), 3637–3649. doi:10.1111/biom.13819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4BC43-A2C5-43B7-A4C2-7B44C322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96EC1-AC10-4D24-AAA6-D602DB43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57775"/>
            <a:ext cx="995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MOENV AQX_P_488 historical hourly AQI dataset; Taiwan AQI definition; WHO air-quality evidence and guidelines.</a:t>
            </a:r>
          </a:p>
        </p:txBody>
      </p:sp>
    </p:spTree>
    <p:extLst>
      <p:ext uri="{BB962C8B-B14F-4D97-AF65-F5344CB8AC3E}">
        <p14:creationId xmlns:p14="http://schemas.microsoft.com/office/powerpoint/2010/main" val="1706955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2026-10-29T09:02:12.4160000Z</dcterms:created>
  <dcterms:modified xsi:type="dcterms:W3CDTF">2026-10-29T09:02:12.4160000Z</dcterms:modified>
</coreProperties>
</file>